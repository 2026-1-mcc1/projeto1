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28800425" cy="43200638"/>
  <p:notesSz cx="6858000" cy="9144000"/>
  <p:embeddedFontLst>
    <p:embeddedFont>
      <p:font typeface="Inter" panose="02000503000000020004" pitchFamily="2" charset="0"/>
      <p:regular r:id="rId4"/>
      <p:bold r:id="rId5"/>
      <p:italic r:id="rId6"/>
      <p:boldItalic r:id="rId7"/>
    </p:embeddedFont>
    <p:embeddedFont>
      <p:font typeface="Open Sans" pitchFamily="2" charset="0"/>
      <p:regular r:id="rId8"/>
      <p:bold r:id="rId9"/>
      <p:italic r:id="rId10"/>
      <p:boldItalic r:id="rId11"/>
    </p:embeddedFont>
    <p:embeddedFont>
      <p:font typeface="Open Sans ExtraBold" pitchFamily="2" charset="0"/>
      <p:bold r:id="rId12"/>
      <p:italic r:id="rId13"/>
      <p:boldItalic r:id="rId14"/>
    </p:embeddedFont>
    <p:embeddedFont>
      <p:font typeface="Open Sans Light" pitchFamily="2" charset="0"/>
      <p:regular r:id="rId15"/>
      <p:italic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366">
          <p15:clr>
            <a:srgbClr val="A4A3A4"/>
          </p15:clr>
        </p15:guide>
        <p15:guide id="2" pos="5488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i+9yr4mDS8zg5+kfXTqvtBuST67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69"/>
    <p:restoredTop sz="94658"/>
  </p:normalViewPr>
  <p:slideViewPr>
    <p:cSldViewPr snapToGrid="0">
      <p:cViewPr>
        <p:scale>
          <a:sx n="45" d="100"/>
          <a:sy n="45" d="100"/>
        </p:scale>
        <p:origin x="1440" y="280"/>
      </p:cViewPr>
      <p:guideLst>
        <p:guide orient="horz" pos="4366"/>
        <p:guide pos="5488"/>
      </p:guideLst>
    </p:cSldViewPr>
  </p:slideViewPr>
  <p:notesTextViewPr>
    <p:cViewPr>
      <p:scale>
        <a:sx n="80" d="100"/>
        <a:sy n="8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font" Target="fonts/font10.fntdata"/><Relationship Id="rId18" Type="http://schemas.openxmlformats.org/officeDocument/2006/relationships/presProps" Target="presProps.xml"/><Relationship Id="rId3" Type="http://schemas.openxmlformats.org/officeDocument/2006/relationships/notesMaster" Target="notesMasters/notesMaster1.xml"/><Relationship Id="rId21" Type="http://schemas.openxmlformats.org/officeDocument/2006/relationships/tableStyles" Target="tableStyles.xml"/><Relationship Id="rId7" Type="http://schemas.openxmlformats.org/officeDocument/2006/relationships/font" Target="fonts/font4.fntdata"/><Relationship Id="rId12" Type="http://schemas.openxmlformats.org/officeDocument/2006/relationships/font" Target="fonts/font9.fntdata"/><Relationship Id="rId17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font" Target="fonts/font13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font" Target="fonts/font12.fntdata"/><Relationship Id="rId10" Type="http://schemas.openxmlformats.org/officeDocument/2006/relationships/font" Target="fonts/font7.fntdata"/><Relationship Id="rId19" Type="http://schemas.openxmlformats.org/officeDocument/2006/relationships/viewProps" Target="viewProps.xml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685800"/>
            <a:ext cx="228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ctrTitle"/>
          </p:nvPr>
        </p:nvSpPr>
        <p:spPr>
          <a:xfrm>
            <a:off x="1306910" y="4305947"/>
            <a:ext cx="14811647" cy="2971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ubTitle" idx="1"/>
          </p:nvPr>
        </p:nvSpPr>
        <p:spPr>
          <a:xfrm>
            <a:off x="2613820" y="7854662"/>
            <a:ext cx="12197827" cy="3542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1220"/>
              </a:spcBef>
              <a:spcAft>
                <a:spcPts val="0"/>
              </a:spcAft>
              <a:buClr>
                <a:srgbClr val="888888"/>
              </a:buClr>
              <a:buSzPts val="6098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1067"/>
              </a:spcBef>
              <a:spcAft>
                <a:spcPts val="0"/>
              </a:spcAft>
              <a:buClr>
                <a:srgbClr val="888888"/>
              </a:buClr>
              <a:buSzPts val="5336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915"/>
              </a:spcBef>
              <a:spcAft>
                <a:spcPts val="0"/>
              </a:spcAft>
              <a:buClr>
                <a:srgbClr val="888888"/>
              </a:buClr>
              <a:buSzPts val="4574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1376492" y="8907084"/>
            <a:ext cx="14811647" cy="2752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623"/>
              <a:buFont typeface="Calibri"/>
              <a:buNone/>
              <a:defRPr sz="7623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1376492" y="5874955"/>
            <a:ext cx="14811647" cy="3032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686"/>
              </a:spcBef>
              <a:spcAft>
                <a:spcPts val="0"/>
              </a:spcAft>
              <a:buClr>
                <a:srgbClr val="888888"/>
              </a:buClr>
              <a:buSzPts val="3430"/>
              <a:buNone/>
              <a:defRPr sz="343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10"/>
              </a:spcBef>
              <a:spcAft>
                <a:spcPts val="0"/>
              </a:spcAft>
              <a:buClr>
                <a:srgbClr val="888888"/>
              </a:buClr>
              <a:buSzPts val="3049"/>
              <a:buNone/>
              <a:defRPr sz="3049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8857946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body" idx="1"/>
          </p:nvPr>
        </p:nvSpPr>
        <p:spPr>
          <a:xfrm>
            <a:off x="871273" y="3102721"/>
            <a:ext cx="7699274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body" idx="2"/>
          </p:nvPr>
        </p:nvSpPr>
        <p:spPr>
          <a:xfrm>
            <a:off x="871273" y="4395787"/>
            <a:ext cx="7699274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3"/>
          </p:nvPr>
        </p:nvSpPr>
        <p:spPr>
          <a:xfrm>
            <a:off x="8851896" y="3102721"/>
            <a:ext cx="7702299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4"/>
          </p:nvPr>
        </p:nvSpPr>
        <p:spPr>
          <a:xfrm>
            <a:off x="8851896" y="4395787"/>
            <a:ext cx="7702299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871274" y="551880"/>
            <a:ext cx="5732859" cy="2348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6812874" y="551881"/>
            <a:ext cx="9741320" cy="11830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615823" algn="l"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Char char="•"/>
              <a:defRPr sz="6098"/>
            </a:lvl1pPr>
            <a:lvl2pPr marL="914400" lvl="1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–"/>
              <a:defRPr sz="5336"/>
            </a:lvl2pPr>
            <a:lvl3pPr marL="1371600" lvl="2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3pPr>
            <a:lvl4pPr marL="1828800" lvl="3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4pPr>
            <a:lvl5pPr marL="2286000" lvl="4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»"/>
              <a:defRPr sz="3811"/>
            </a:lvl5pPr>
            <a:lvl6pPr marL="2743200" lvl="5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6pPr>
            <a:lvl7pPr marL="3200400" lvl="6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7pPr>
            <a:lvl8pPr marL="3657600" lvl="7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8pPr>
            <a:lvl9pPr marL="4114800" lvl="8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871274" y="2900579"/>
            <a:ext cx="5732859" cy="9481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3415514" y="9702817"/>
            <a:ext cx="10455280" cy="1145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3415514" y="1238521"/>
            <a:ext cx="10455280" cy="83167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3415514" y="10848290"/>
            <a:ext cx="10455280" cy="16267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4138869" y="-33322"/>
            <a:ext cx="9147730" cy="1568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8680373" y="4508182"/>
            <a:ext cx="11826913" cy="3920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693699" y="732664"/>
            <a:ext cx="11826913" cy="11471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 sz="838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615823" algn="l" rtl="0"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Font typeface="Arial"/>
              <a:buChar char="•"/>
              <a:defRPr sz="609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567436" algn="l" rtl="0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Font typeface="Arial"/>
              <a:buChar char="–"/>
              <a:defRPr sz="5336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519049" algn="l" rtl="0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Font typeface="Arial"/>
              <a:buChar char="•"/>
              <a:defRPr sz="45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470599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–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»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4F3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234721" y="36273035"/>
            <a:ext cx="29324843" cy="6968084"/>
            <a:chOff x="0" y="-47625"/>
            <a:chExt cx="3032124" cy="655203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3032124" cy="607578"/>
            </a:xfrm>
            <a:custGeom>
              <a:avLst/>
              <a:gdLst/>
              <a:ahLst/>
              <a:cxnLst/>
              <a:rect l="l" t="t" r="r" b="b"/>
              <a:pathLst>
                <a:path w="3032124" h="607578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607578"/>
                  </a:lnTo>
                  <a:lnTo>
                    <a:pt x="0" y="607578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1"/>
            <p:cNvSpPr txBox="1"/>
            <p:nvPr/>
          </p:nvSpPr>
          <p:spPr>
            <a:xfrm>
              <a:off x="0" y="-47625"/>
              <a:ext cx="3032124" cy="6552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" name="Google Shape;87;p1"/>
          <p:cNvSpPr/>
          <p:nvPr/>
        </p:nvSpPr>
        <p:spPr>
          <a:xfrm>
            <a:off x="3163237" y="34829695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2"/>
                </a:lnTo>
                <a:lnTo>
                  <a:pt x="0" y="7509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6769" noProof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8" name="Google Shape;88;p1"/>
          <p:cNvGrpSpPr/>
          <p:nvPr/>
        </p:nvGrpSpPr>
        <p:grpSpPr>
          <a:xfrm>
            <a:off x="-234720" y="28800364"/>
            <a:ext cx="29324840" cy="9759747"/>
            <a:chOff x="0" y="-47625"/>
            <a:chExt cx="3163653" cy="917701"/>
          </a:xfrm>
        </p:grpSpPr>
        <p:sp>
          <p:nvSpPr>
            <p:cNvPr id="89" name="Google Shape;89;p1"/>
            <p:cNvSpPr/>
            <p:nvPr/>
          </p:nvSpPr>
          <p:spPr>
            <a:xfrm>
              <a:off x="0" y="0"/>
              <a:ext cx="3163653" cy="870076"/>
            </a:xfrm>
            <a:custGeom>
              <a:avLst/>
              <a:gdLst/>
              <a:ahLst/>
              <a:cxnLst/>
              <a:rect l="l" t="t" r="r" b="b"/>
              <a:pathLst>
                <a:path w="3163653" h="870076" extrusionOk="0">
                  <a:moveTo>
                    <a:pt x="0" y="0"/>
                  </a:moveTo>
                  <a:lnTo>
                    <a:pt x="3163653" y="0"/>
                  </a:lnTo>
                  <a:lnTo>
                    <a:pt x="3163653" y="870076"/>
                  </a:lnTo>
                  <a:lnTo>
                    <a:pt x="0" y="870076"/>
                  </a:lnTo>
                  <a:close/>
                </a:path>
              </a:pathLst>
            </a:custGeom>
            <a:solidFill>
              <a:srgbClr val="044F3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"/>
            <p:cNvSpPr txBox="1"/>
            <p:nvPr/>
          </p:nvSpPr>
          <p:spPr>
            <a:xfrm>
              <a:off x="0" y="-47625"/>
              <a:ext cx="3163653" cy="9177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l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" name="Google Shape;91;p1"/>
          <p:cNvGrpSpPr/>
          <p:nvPr/>
        </p:nvGrpSpPr>
        <p:grpSpPr>
          <a:xfrm>
            <a:off x="-234719" y="21010291"/>
            <a:ext cx="29324842" cy="9460531"/>
            <a:chOff x="0" y="-47625"/>
            <a:chExt cx="3225442" cy="889566"/>
          </a:xfrm>
        </p:grpSpPr>
        <p:sp>
          <p:nvSpPr>
            <p:cNvPr id="92" name="Google Shape;92;p1"/>
            <p:cNvSpPr/>
            <p:nvPr/>
          </p:nvSpPr>
          <p:spPr>
            <a:xfrm>
              <a:off x="0" y="0"/>
              <a:ext cx="3225442" cy="841941"/>
            </a:xfrm>
            <a:custGeom>
              <a:avLst/>
              <a:gdLst/>
              <a:ahLst/>
              <a:cxnLst/>
              <a:rect l="l" t="t" r="r" b="b"/>
              <a:pathLst>
                <a:path w="3225442" h="841941" extrusionOk="0">
                  <a:moveTo>
                    <a:pt x="0" y="0"/>
                  </a:moveTo>
                  <a:lnTo>
                    <a:pt x="3225442" y="0"/>
                  </a:lnTo>
                  <a:lnTo>
                    <a:pt x="3225442" y="841941"/>
                  </a:lnTo>
                  <a:lnTo>
                    <a:pt x="0" y="841941"/>
                  </a:lnTo>
                  <a:close/>
                </a:path>
              </a:pathLst>
            </a:custGeom>
            <a:solidFill>
              <a:srgbClr val="02332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1"/>
            <p:cNvSpPr txBox="1"/>
            <p:nvPr/>
          </p:nvSpPr>
          <p:spPr>
            <a:xfrm>
              <a:off x="0" y="-47625"/>
              <a:ext cx="3225442" cy="889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"/>
          <p:cNvGrpSpPr/>
          <p:nvPr/>
        </p:nvGrpSpPr>
        <p:grpSpPr>
          <a:xfrm>
            <a:off x="-234720" y="15561373"/>
            <a:ext cx="29304069" cy="8372962"/>
            <a:chOff x="0" y="-47625"/>
            <a:chExt cx="3032124" cy="787302"/>
          </a:xfrm>
        </p:grpSpPr>
        <p:sp>
          <p:nvSpPr>
            <p:cNvPr id="95" name="Google Shape;95;p1"/>
            <p:cNvSpPr/>
            <p:nvPr/>
          </p:nvSpPr>
          <p:spPr>
            <a:xfrm>
              <a:off x="0" y="0"/>
              <a:ext cx="3032124" cy="739677"/>
            </a:xfrm>
            <a:custGeom>
              <a:avLst/>
              <a:gdLst/>
              <a:ahLst/>
              <a:cxnLst/>
              <a:rect l="l" t="t" r="r" b="b"/>
              <a:pathLst>
                <a:path w="3032124" h="739677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739677"/>
                  </a:lnTo>
                  <a:lnTo>
                    <a:pt x="0" y="739677"/>
                  </a:lnTo>
                  <a:close/>
                </a:path>
              </a:pathLst>
            </a:custGeom>
            <a:solidFill>
              <a:srgbClr val="0B9E6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"/>
            <p:cNvSpPr txBox="1"/>
            <p:nvPr/>
          </p:nvSpPr>
          <p:spPr>
            <a:xfrm>
              <a:off x="0" y="-47625"/>
              <a:ext cx="3032124" cy="7873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" name="Google Shape;97;p1"/>
          <p:cNvGrpSpPr/>
          <p:nvPr/>
        </p:nvGrpSpPr>
        <p:grpSpPr>
          <a:xfrm>
            <a:off x="-234719" y="6816147"/>
            <a:ext cx="29304069" cy="9226118"/>
            <a:chOff x="0" y="-47625"/>
            <a:chExt cx="3218728" cy="867524"/>
          </a:xfrm>
        </p:grpSpPr>
        <p:sp>
          <p:nvSpPr>
            <p:cNvPr id="98" name="Google Shape;98;p1"/>
            <p:cNvSpPr/>
            <p:nvPr/>
          </p:nvSpPr>
          <p:spPr>
            <a:xfrm>
              <a:off x="0" y="0"/>
              <a:ext cx="3218728" cy="819899"/>
            </a:xfrm>
            <a:custGeom>
              <a:avLst/>
              <a:gdLst/>
              <a:ahLst/>
              <a:cxnLst/>
              <a:rect l="l" t="t" r="r" b="b"/>
              <a:pathLst>
                <a:path w="3218728" h="819899" extrusionOk="0">
                  <a:moveTo>
                    <a:pt x="0" y="0"/>
                  </a:moveTo>
                  <a:lnTo>
                    <a:pt x="3218728" y="0"/>
                  </a:lnTo>
                  <a:lnTo>
                    <a:pt x="3218728" y="819899"/>
                  </a:lnTo>
                  <a:lnTo>
                    <a:pt x="0" y="819899"/>
                  </a:lnTo>
                  <a:close/>
                </a:path>
              </a:pathLst>
            </a:custGeom>
            <a:solidFill>
              <a:srgbClr val="07734C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"/>
            <p:cNvSpPr txBox="1"/>
            <p:nvPr/>
          </p:nvSpPr>
          <p:spPr>
            <a:xfrm>
              <a:off x="0" y="-47625"/>
              <a:ext cx="3218728" cy="8675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" name="Google Shape;100;p1"/>
          <p:cNvGrpSpPr/>
          <p:nvPr/>
        </p:nvGrpSpPr>
        <p:grpSpPr>
          <a:xfrm>
            <a:off x="-234719" y="-573881"/>
            <a:ext cx="29324841" cy="9050021"/>
            <a:chOff x="0" y="-47625"/>
            <a:chExt cx="2755436" cy="850966"/>
          </a:xfrm>
        </p:grpSpPr>
        <p:sp>
          <p:nvSpPr>
            <p:cNvPr id="101" name="Google Shape;101;p1"/>
            <p:cNvSpPr/>
            <p:nvPr/>
          </p:nvSpPr>
          <p:spPr>
            <a:xfrm>
              <a:off x="0" y="0"/>
              <a:ext cx="2755436" cy="803341"/>
            </a:xfrm>
            <a:custGeom>
              <a:avLst/>
              <a:gdLst/>
              <a:ahLst/>
              <a:cxnLst/>
              <a:rect l="l" t="t" r="r" b="b"/>
              <a:pathLst>
                <a:path w="2755436" h="803341" extrusionOk="0">
                  <a:moveTo>
                    <a:pt x="0" y="0"/>
                  </a:moveTo>
                  <a:lnTo>
                    <a:pt x="2755436" y="0"/>
                  </a:lnTo>
                  <a:lnTo>
                    <a:pt x="2755436" y="803341"/>
                  </a:lnTo>
                  <a:lnTo>
                    <a:pt x="0" y="803341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1"/>
            <p:cNvSpPr txBox="1"/>
            <p:nvPr/>
          </p:nvSpPr>
          <p:spPr>
            <a:xfrm>
              <a:off x="0" y="-47625"/>
              <a:ext cx="2755436" cy="8509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1"/>
          <p:cNvGrpSpPr/>
          <p:nvPr/>
        </p:nvGrpSpPr>
        <p:grpSpPr>
          <a:xfrm rot="-5400000">
            <a:off x="11084396" y="13184457"/>
            <a:ext cx="20464104" cy="13034120"/>
            <a:chOff x="0" y="-47625"/>
            <a:chExt cx="1922704" cy="1224620"/>
          </a:xfrm>
        </p:grpSpPr>
        <p:sp>
          <p:nvSpPr>
            <p:cNvPr id="104" name="Google Shape;104;p1"/>
            <p:cNvSpPr/>
            <p:nvPr/>
          </p:nvSpPr>
          <p:spPr>
            <a:xfrm>
              <a:off x="0" y="0"/>
              <a:ext cx="1922704" cy="1176995"/>
            </a:xfrm>
            <a:custGeom>
              <a:avLst/>
              <a:gdLst/>
              <a:ahLst/>
              <a:cxnLst/>
              <a:rect l="l" t="t" r="r" b="b"/>
              <a:pathLst>
                <a:path w="1922704" h="1176995" extrusionOk="0">
                  <a:moveTo>
                    <a:pt x="0" y="0"/>
                  </a:moveTo>
                  <a:lnTo>
                    <a:pt x="1922704" y="0"/>
                  </a:lnTo>
                  <a:lnTo>
                    <a:pt x="1922704" y="1176995"/>
                  </a:lnTo>
                  <a:lnTo>
                    <a:pt x="0" y="1176995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1"/>
            <p:cNvSpPr txBox="1"/>
            <p:nvPr/>
          </p:nvSpPr>
          <p:spPr>
            <a:xfrm>
              <a:off x="0" y="-47625"/>
              <a:ext cx="1922704" cy="1224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1"/>
          <p:cNvGrpSpPr/>
          <p:nvPr/>
        </p:nvGrpSpPr>
        <p:grpSpPr>
          <a:xfrm>
            <a:off x="927180" y="30011217"/>
            <a:ext cx="13848538" cy="8253126"/>
            <a:chOff x="0" y="-47625"/>
            <a:chExt cx="1302166" cy="868357"/>
          </a:xfrm>
        </p:grpSpPr>
        <p:sp>
          <p:nvSpPr>
            <p:cNvPr id="107" name="Google Shape;107;p1"/>
            <p:cNvSpPr/>
            <p:nvPr/>
          </p:nvSpPr>
          <p:spPr>
            <a:xfrm>
              <a:off x="0" y="0"/>
              <a:ext cx="1302166" cy="820732"/>
            </a:xfrm>
            <a:custGeom>
              <a:avLst/>
              <a:gdLst/>
              <a:ahLst/>
              <a:cxnLst/>
              <a:rect l="l" t="t" r="r" b="b"/>
              <a:pathLst>
                <a:path w="1302166" h="820732" extrusionOk="0">
                  <a:moveTo>
                    <a:pt x="0" y="0"/>
                  </a:moveTo>
                  <a:lnTo>
                    <a:pt x="1302166" y="0"/>
                  </a:lnTo>
                  <a:lnTo>
                    <a:pt x="1302166" y="820732"/>
                  </a:lnTo>
                  <a:lnTo>
                    <a:pt x="0" y="820732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"/>
            <p:cNvSpPr txBox="1"/>
            <p:nvPr/>
          </p:nvSpPr>
          <p:spPr>
            <a:xfrm>
              <a:off x="0" y="-47625"/>
              <a:ext cx="1302166" cy="8683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" name="Google Shape;109;p1"/>
          <p:cNvGrpSpPr/>
          <p:nvPr/>
        </p:nvGrpSpPr>
        <p:grpSpPr>
          <a:xfrm>
            <a:off x="15403306" y="30021684"/>
            <a:ext cx="12527228" cy="8242659"/>
            <a:chOff x="0" y="-314078"/>
            <a:chExt cx="8764870" cy="5685342"/>
          </a:xfrm>
        </p:grpSpPr>
        <p:grpSp>
          <p:nvGrpSpPr>
            <p:cNvPr id="110" name="Google Shape;110;p1"/>
            <p:cNvGrpSpPr/>
            <p:nvPr/>
          </p:nvGrpSpPr>
          <p:grpSpPr>
            <a:xfrm>
              <a:off x="0" y="-314078"/>
              <a:ext cx="8764870" cy="5685342"/>
              <a:chOff x="0" y="-47625"/>
              <a:chExt cx="1329056" cy="862094"/>
            </a:xfrm>
          </p:grpSpPr>
          <p:sp>
            <p:nvSpPr>
              <p:cNvPr id="111" name="Google Shape;111;p1"/>
              <p:cNvSpPr/>
              <p:nvPr/>
            </p:nvSpPr>
            <p:spPr>
              <a:xfrm>
                <a:off x="0" y="0"/>
                <a:ext cx="1329056" cy="814469"/>
              </a:xfrm>
              <a:custGeom>
                <a:avLst/>
                <a:gdLst/>
                <a:ahLst/>
                <a:cxnLst/>
                <a:rect l="l" t="t" r="r" b="b"/>
                <a:pathLst>
                  <a:path w="1329056" h="814469" extrusionOk="0">
                    <a:moveTo>
                      <a:pt x="0" y="0"/>
                    </a:moveTo>
                    <a:lnTo>
                      <a:pt x="1329056" y="0"/>
                    </a:lnTo>
                    <a:lnTo>
                      <a:pt x="1329056" y="814469"/>
                    </a:lnTo>
                    <a:lnTo>
                      <a:pt x="0" y="814469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 cmpd="sng">
                <a:solidFill>
                  <a:srgbClr val="000000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pt-BR" sz="6769" noProof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" name="Google Shape;112;p1"/>
              <p:cNvSpPr txBox="1"/>
              <p:nvPr/>
            </p:nvSpPr>
            <p:spPr>
              <a:xfrm>
                <a:off x="0" y="-47625"/>
                <a:ext cx="1329056" cy="8620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6800" tIns="96800" rIns="96800" bIns="96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221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pt-BR" sz="6769" noProof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3" name="Google Shape;113;p1"/>
            <p:cNvSpPr txBox="1"/>
            <p:nvPr/>
          </p:nvSpPr>
          <p:spPr>
            <a:xfrm>
              <a:off x="1064599" y="235141"/>
              <a:ext cx="6635674" cy="43332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100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4762" b="1" noProof="1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"/>
                </a:rPr>
                <a:t>REFERÊNCIAS</a:t>
              </a:r>
              <a:endParaRPr lang="pt-BR" noProof="1"/>
            </a:p>
          </p:txBody>
        </p:sp>
      </p:grpSp>
      <p:sp>
        <p:nvSpPr>
          <p:cNvPr id="114" name="Google Shape;114;p1"/>
          <p:cNvSpPr/>
          <p:nvPr/>
        </p:nvSpPr>
        <p:spPr>
          <a:xfrm>
            <a:off x="-916543" y="1525353"/>
            <a:ext cx="8571184" cy="2454222"/>
          </a:xfrm>
          <a:custGeom>
            <a:avLst/>
            <a:gdLst/>
            <a:ahLst/>
            <a:cxnLst/>
            <a:rect l="l" t="t" r="r" b="b"/>
            <a:pathLst>
              <a:path w="4497722" h="1287851" extrusionOk="0">
                <a:moveTo>
                  <a:pt x="0" y="0"/>
                </a:moveTo>
                <a:lnTo>
                  <a:pt x="4497722" y="0"/>
                </a:lnTo>
                <a:lnTo>
                  <a:pt x="4497722" y="1287851"/>
                </a:lnTo>
                <a:lnTo>
                  <a:pt x="0" y="1287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6769" noProof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"/>
          <p:cNvSpPr/>
          <p:nvPr/>
        </p:nvSpPr>
        <p:spPr>
          <a:xfrm>
            <a:off x="3163237" y="-4997460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1"/>
                </a:lnTo>
                <a:lnTo>
                  <a:pt x="0" y="75096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6769" noProof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"/>
          <p:cNvSpPr/>
          <p:nvPr/>
        </p:nvSpPr>
        <p:spPr>
          <a:xfrm>
            <a:off x="21014306" y="1712017"/>
            <a:ext cx="7228385" cy="2335060"/>
          </a:xfrm>
          <a:custGeom>
            <a:avLst/>
            <a:gdLst/>
            <a:ahLst/>
            <a:cxnLst/>
            <a:rect l="l" t="t" r="r" b="b"/>
            <a:pathLst>
              <a:path w="3793089" h="1225321" extrusionOk="0">
                <a:moveTo>
                  <a:pt x="0" y="0"/>
                </a:moveTo>
                <a:lnTo>
                  <a:pt x="3793089" y="0"/>
                </a:lnTo>
                <a:lnTo>
                  <a:pt x="3793089" y="1225321"/>
                </a:lnTo>
                <a:lnTo>
                  <a:pt x="0" y="12253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6769" noProof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"/>
          <p:cNvSpPr txBox="1"/>
          <p:nvPr/>
        </p:nvSpPr>
        <p:spPr>
          <a:xfrm>
            <a:off x="5432058" y="12099877"/>
            <a:ext cx="4989818" cy="658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96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77" b="1" noProof="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"/>
              </a:rPr>
              <a:t>INTRODUÇÃO</a:t>
            </a:r>
            <a:endParaRPr lang="pt-BR" noProof="1"/>
          </a:p>
        </p:txBody>
      </p:sp>
      <p:grpSp>
        <p:nvGrpSpPr>
          <p:cNvPr id="119" name="Google Shape;119;p1"/>
          <p:cNvGrpSpPr/>
          <p:nvPr/>
        </p:nvGrpSpPr>
        <p:grpSpPr>
          <a:xfrm rot="-5400000">
            <a:off x="2494601" y="7477176"/>
            <a:ext cx="10206805" cy="14355430"/>
            <a:chOff x="0" y="-47625"/>
            <a:chExt cx="958980" cy="1348764"/>
          </a:xfrm>
        </p:grpSpPr>
        <p:sp>
          <p:nvSpPr>
            <p:cNvPr id="120" name="Google Shape;120;p1"/>
            <p:cNvSpPr/>
            <p:nvPr/>
          </p:nvSpPr>
          <p:spPr>
            <a:xfrm>
              <a:off x="0" y="0"/>
              <a:ext cx="958980" cy="1301139"/>
            </a:xfrm>
            <a:custGeom>
              <a:avLst/>
              <a:gdLst/>
              <a:ahLst/>
              <a:cxnLst/>
              <a:rect l="l" t="t" r="r" b="b"/>
              <a:pathLst>
                <a:path w="958980" h="1301139" extrusionOk="0">
                  <a:moveTo>
                    <a:pt x="0" y="0"/>
                  </a:moveTo>
                  <a:lnTo>
                    <a:pt x="958980" y="0"/>
                  </a:lnTo>
                  <a:lnTo>
                    <a:pt x="958980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" name="Google Shape;121;p1"/>
            <p:cNvSpPr txBox="1"/>
            <p:nvPr/>
          </p:nvSpPr>
          <p:spPr>
            <a:xfrm>
              <a:off x="0" y="-47625"/>
              <a:ext cx="958980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2" name="Google Shape;122;p1"/>
          <p:cNvGrpSpPr/>
          <p:nvPr/>
        </p:nvGrpSpPr>
        <p:grpSpPr>
          <a:xfrm rot="-5400000">
            <a:off x="2616002" y="17805386"/>
            <a:ext cx="9963998" cy="14355430"/>
            <a:chOff x="0" y="-47625"/>
            <a:chExt cx="936167" cy="1348764"/>
          </a:xfrm>
        </p:grpSpPr>
        <p:sp>
          <p:nvSpPr>
            <p:cNvPr id="123" name="Google Shape;123;p1"/>
            <p:cNvSpPr/>
            <p:nvPr/>
          </p:nvSpPr>
          <p:spPr>
            <a:xfrm>
              <a:off x="0" y="0"/>
              <a:ext cx="936167" cy="1301139"/>
            </a:xfrm>
            <a:custGeom>
              <a:avLst/>
              <a:gdLst/>
              <a:ahLst/>
              <a:cxnLst/>
              <a:rect l="l" t="t" r="r" b="b"/>
              <a:pathLst>
                <a:path w="936167" h="1301139" extrusionOk="0">
                  <a:moveTo>
                    <a:pt x="0" y="0"/>
                  </a:moveTo>
                  <a:lnTo>
                    <a:pt x="936167" y="0"/>
                  </a:lnTo>
                  <a:lnTo>
                    <a:pt x="936167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" name="Google Shape;124;p1"/>
            <p:cNvSpPr txBox="1"/>
            <p:nvPr/>
          </p:nvSpPr>
          <p:spPr>
            <a:xfrm>
              <a:off x="0" y="-47625"/>
              <a:ext cx="936167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5" name="Google Shape;125;p1"/>
          <p:cNvSpPr/>
          <p:nvPr/>
        </p:nvSpPr>
        <p:spPr>
          <a:xfrm>
            <a:off x="22527251" y="36801439"/>
            <a:ext cx="5609093" cy="5642282"/>
          </a:xfrm>
          <a:custGeom>
            <a:avLst/>
            <a:gdLst/>
            <a:ahLst/>
            <a:cxnLst/>
            <a:rect l="l" t="t" r="r" b="b"/>
            <a:pathLst>
              <a:path w="2943367" h="2960783" extrusionOk="0">
                <a:moveTo>
                  <a:pt x="0" y="0"/>
                </a:moveTo>
                <a:lnTo>
                  <a:pt x="2943367" y="0"/>
                </a:lnTo>
                <a:lnTo>
                  <a:pt x="2943367" y="2960784"/>
                </a:lnTo>
                <a:lnTo>
                  <a:pt x="0" y="29607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6769" noProof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"/>
          <p:cNvSpPr txBox="1"/>
          <p:nvPr/>
        </p:nvSpPr>
        <p:spPr>
          <a:xfrm>
            <a:off x="-1" y="4700167"/>
            <a:ext cx="28813765" cy="17771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434" b="1" noProof="1">
                <a:latin typeface="Open Sans ExtraBold"/>
                <a:ea typeface="Open Sans ExtraBold"/>
                <a:cs typeface="Open Sans ExtraBold"/>
                <a:sym typeface="Open Sans"/>
              </a:rPr>
              <a:t>URBAN CHASE</a:t>
            </a:r>
            <a:endParaRPr lang="pt-BR" noProof="1"/>
          </a:p>
        </p:txBody>
      </p:sp>
      <p:sp>
        <p:nvSpPr>
          <p:cNvPr id="127" name="Google Shape;127;p1"/>
          <p:cNvSpPr txBox="1"/>
          <p:nvPr/>
        </p:nvSpPr>
        <p:spPr>
          <a:xfrm>
            <a:off x="-234723" y="6355587"/>
            <a:ext cx="29324843" cy="2051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762" b="1" noProof="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"/>
              </a:rPr>
              <a:t>André Makoto, Caio Fabio, Davi Varella, Davi Moraes</a:t>
            </a:r>
            <a:endParaRPr lang="pt-BR" noProof="1"/>
          </a:p>
          <a:p>
            <a:pPr lvl="0" algn="ctr">
              <a:lnSpc>
                <a:spcPct val="140025"/>
              </a:lnSpc>
            </a:pPr>
            <a:r>
              <a:rPr lang="pt-BR" sz="4762" noProof="1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  <a:sym typeface="Open Sans"/>
              </a:rPr>
              <a:t>Orientadores: Adriano Felix, David de Oliveira, Eduardo Savino, Luis Pires, Renata Muniz, Victor Rosetti </a:t>
            </a:r>
            <a:endParaRPr lang="pt-BR" noProof="1">
              <a:solidFill>
                <a:schemeClr val="tx1"/>
              </a:solidFill>
              <a:latin typeface="Open Sans Light" pitchFamily="2" charset="0"/>
              <a:ea typeface="Open Sans Light" pitchFamily="2" charset="0"/>
              <a:cs typeface="Open Sans Light" pitchFamily="2" charset="0"/>
            </a:endParaRPr>
          </a:p>
        </p:txBody>
      </p:sp>
      <p:sp>
        <p:nvSpPr>
          <p:cNvPr id="128" name="Google Shape;128;p1"/>
          <p:cNvSpPr txBox="1"/>
          <p:nvPr/>
        </p:nvSpPr>
        <p:spPr>
          <a:xfrm>
            <a:off x="15099844" y="15177356"/>
            <a:ext cx="12433206" cy="533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30" noProof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Cena Planejamento: Urban Chase</a:t>
            </a:r>
            <a:endParaRPr lang="pt-BR" noProof="1"/>
          </a:p>
        </p:txBody>
      </p:sp>
      <p:sp>
        <p:nvSpPr>
          <p:cNvPr id="129" name="Google Shape;129;p1"/>
          <p:cNvSpPr txBox="1"/>
          <p:nvPr/>
        </p:nvSpPr>
        <p:spPr>
          <a:xfrm>
            <a:off x="15353290" y="23008444"/>
            <a:ext cx="12433206" cy="533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30" noProof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Fonte: Urban Chase (2026)</a:t>
            </a:r>
            <a:endParaRPr lang="pt-BR" noProof="1"/>
          </a:p>
        </p:txBody>
      </p:sp>
      <p:sp>
        <p:nvSpPr>
          <p:cNvPr id="130" name="Google Shape;130;p1"/>
          <p:cNvSpPr txBox="1"/>
          <p:nvPr/>
        </p:nvSpPr>
        <p:spPr>
          <a:xfrm>
            <a:off x="2561448" y="30828367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762" b="1" noProof="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"/>
              </a:rPr>
              <a:t>TECNOLOGIAS UTILIZADAS</a:t>
            </a:r>
            <a:endParaRPr lang="pt-BR" noProof="1"/>
          </a:p>
        </p:txBody>
      </p:sp>
      <p:sp>
        <p:nvSpPr>
          <p:cNvPr id="131" name="Google Shape;131;p1"/>
          <p:cNvSpPr txBox="1"/>
          <p:nvPr/>
        </p:nvSpPr>
        <p:spPr>
          <a:xfrm>
            <a:off x="16447653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762" b="1" noProof="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"/>
              </a:rPr>
              <a:t>RESULTADOS</a:t>
            </a:r>
            <a:endParaRPr lang="pt-BR" noProof="1"/>
          </a:p>
        </p:txBody>
      </p:sp>
      <p:sp>
        <p:nvSpPr>
          <p:cNvPr id="132" name="Google Shape;132;p1"/>
          <p:cNvSpPr txBox="1"/>
          <p:nvPr/>
        </p:nvSpPr>
        <p:spPr>
          <a:xfrm>
            <a:off x="2644303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762" b="1" noProof="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"/>
              </a:rPr>
              <a:t>O PROBLEMA</a:t>
            </a:r>
            <a:endParaRPr lang="pt-BR" noProof="1"/>
          </a:p>
        </p:txBody>
      </p:sp>
      <p:sp>
        <p:nvSpPr>
          <p:cNvPr id="133" name="Google Shape;133;p1"/>
          <p:cNvSpPr txBox="1"/>
          <p:nvPr/>
        </p:nvSpPr>
        <p:spPr>
          <a:xfrm>
            <a:off x="2758254" y="20302839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762" b="1" noProof="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"/>
              </a:rPr>
              <a:t>A PROPOSTA</a:t>
            </a:r>
            <a:endParaRPr lang="pt-BR" noProof="1"/>
          </a:p>
        </p:txBody>
      </p:sp>
      <p:sp>
        <p:nvSpPr>
          <p:cNvPr id="134" name="Google Shape;134;p1"/>
          <p:cNvSpPr txBox="1"/>
          <p:nvPr/>
        </p:nvSpPr>
        <p:spPr>
          <a:xfrm>
            <a:off x="15714840" y="31592544"/>
            <a:ext cx="11827476" cy="6334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3430" dirty="0"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FÓRUM BRASILEIRO DE SEGURANÇA PÚBLICA. Anuário Brasileiro de Segurança Pública 2025. São Paulo, 2025.</a:t>
            </a:r>
          </a:p>
          <a:p>
            <a:pPr algn="just">
              <a:lnSpc>
                <a:spcPct val="150000"/>
              </a:lnSpc>
            </a:pPr>
            <a:r>
              <a:rPr lang="pt-BR" sz="3430" dirty="0"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LOPES, Leandro de Souza. Percepção de segurança no Paraná: análise de fatores associados a partir de um inquérito online gamificado. Revista do Instituto Brasileiro de Segurança Pública, 2025.</a:t>
            </a:r>
          </a:p>
          <a:p>
            <a:pPr algn="just">
              <a:lnSpc>
                <a:spcPct val="150000"/>
              </a:lnSpc>
            </a:pPr>
            <a:r>
              <a:rPr lang="pt-BR" sz="3430" dirty="0"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PRENSKY, Marc. Aprendizagem baseada em jogos digitais. São Paulo: Senac, 2012.</a:t>
            </a:r>
          </a:p>
        </p:txBody>
      </p:sp>
      <p:sp>
        <p:nvSpPr>
          <p:cNvPr id="135" name="Google Shape;135;p1"/>
          <p:cNvSpPr txBox="1"/>
          <p:nvPr/>
        </p:nvSpPr>
        <p:spPr>
          <a:xfrm>
            <a:off x="1553309" y="31656460"/>
            <a:ext cx="12747315" cy="6334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742950" indent="-7429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3430" dirty="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Unity: Desenvolvimento do ambiente 3D, física e mecânicas do jogo.</a:t>
            </a:r>
          </a:p>
          <a:p>
            <a:pPr marL="742950" indent="-7429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3430" dirty="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C#: Lógica de programação.</a:t>
            </a:r>
          </a:p>
          <a:p>
            <a:pPr marL="742950" indent="-7429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3430" dirty="0" err="1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Git</a:t>
            </a:r>
            <a:r>
              <a:rPr lang="pt-BR" sz="3430" dirty="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 e GitHub: Controle de versão e compartilhamento do código.</a:t>
            </a:r>
          </a:p>
          <a:p>
            <a:pPr marL="742950" indent="-7429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3430" dirty="0" err="1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Kanban</a:t>
            </a:r>
            <a:r>
              <a:rPr lang="pt-BR" sz="3430" dirty="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: Organização das tarefas do projeto.</a:t>
            </a:r>
          </a:p>
          <a:p>
            <a:pPr marL="742950" indent="-7429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3430" dirty="0" err="1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Notion</a:t>
            </a:r>
            <a:r>
              <a:rPr lang="pt-BR" sz="3430" dirty="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: Planejamento da equipe.</a:t>
            </a:r>
          </a:p>
          <a:p>
            <a:pPr marL="742950" indent="-7429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3430" dirty="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Claude IA: Apoio técnico</a:t>
            </a:r>
          </a:p>
        </p:txBody>
      </p:sp>
      <p:sp>
        <p:nvSpPr>
          <p:cNvPr id="136" name="Google Shape;136;p1"/>
          <p:cNvSpPr txBox="1"/>
          <p:nvPr/>
        </p:nvSpPr>
        <p:spPr>
          <a:xfrm>
            <a:off x="1475104" y="10797897"/>
            <a:ext cx="12804342" cy="87093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3430" dirty="0"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A depredação do patrimônio público gera prejuízos diretos à coletividade, comprometendo recursos e serviços essenciais à população. Atos de vandalismo urbano impactam diretamente a qualidade de vida, aumentam gastos públicos e contribuem para a sensação de insegurança social (FÓRUM BRASILEIRO DE SEGURANÇA PÚBLICA, 2025).</a:t>
            </a:r>
          </a:p>
          <a:p>
            <a:pPr algn="just">
              <a:lnSpc>
                <a:spcPct val="150000"/>
              </a:lnSpc>
            </a:pPr>
            <a:r>
              <a:rPr lang="pt-BR" sz="3430" dirty="0"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A percepção de segurança da população está diretamente ligada à preservação dos espaços urbanos e à confiança nas instituições públicas (LOPES, 2025). Nesse contexto, agentes de segurança enfrentam o desafio de conter ocorrências sem ampliar os danos ao patrimônio e às pessoas ao redor. </a:t>
            </a:r>
          </a:p>
        </p:txBody>
      </p:sp>
      <p:sp>
        <p:nvSpPr>
          <p:cNvPr id="137" name="Google Shape;137;p1"/>
          <p:cNvSpPr txBox="1"/>
          <p:nvPr/>
        </p:nvSpPr>
        <p:spPr>
          <a:xfrm>
            <a:off x="1367135" y="21172965"/>
            <a:ext cx="12968622" cy="87093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3430" dirty="0"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Diante do crescimento dos casos de vandalismo urbano e dos prejuízos causados ao patrimônio público, a equipe desenvolveu o </a:t>
            </a:r>
            <a:r>
              <a:rPr lang="pt-BR" sz="3430" i="1" dirty="0" err="1"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Urban</a:t>
            </a:r>
            <a:r>
              <a:rPr lang="pt-BR" sz="3430" i="1" dirty="0"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 Chase</a:t>
            </a:r>
            <a:r>
              <a:rPr lang="pt-BR" sz="3430" dirty="0"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 </a:t>
            </a:r>
            <a:r>
              <a:rPr lang="pt-BR" sz="3430" dirty="0"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com o objetivo de promover conscientização social por meio da gamificação. O projeto foi motivado pela necessidade de representar, de forma interativa, os desafios enfrentados por agentes de segurança ao tentar conter criminosos sem causar danos à cidade e à população.</a:t>
            </a:r>
          </a:p>
          <a:p>
            <a:pPr algn="just">
              <a:lnSpc>
                <a:spcPct val="150000"/>
              </a:lnSpc>
            </a:pPr>
            <a:r>
              <a:rPr lang="pt-BR" sz="3430" dirty="0"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A proposta utiliza conceitos de gamificação aplicados à educação e à conscientização social, prática considerada eficiente para aumentar o engajamento e o aprendizado em ambientes digitais (PRENSKY, 2012).</a:t>
            </a:r>
          </a:p>
        </p:txBody>
      </p:sp>
      <p:sp>
        <p:nvSpPr>
          <p:cNvPr id="138" name="Google Shape;138;p1"/>
          <p:cNvSpPr txBox="1"/>
          <p:nvPr/>
        </p:nvSpPr>
        <p:spPr>
          <a:xfrm>
            <a:off x="136933" y="39681833"/>
            <a:ext cx="28242600" cy="183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955" b="1" noProof="1">
                <a:latin typeface="Open Sans ExtraBold"/>
                <a:ea typeface="Open Sans ExtraBold"/>
                <a:cs typeface="Open Sans ExtraBold"/>
                <a:sym typeface="Open Sans"/>
              </a:rPr>
              <a:t>IV </a:t>
            </a:r>
            <a:r>
              <a:rPr lang="pt-BR" sz="4955" b="1" noProof="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"/>
              </a:rPr>
              <a:t>SEMANA FECAP DE TECNOLOGIA - 2026</a:t>
            </a:r>
            <a:endParaRPr lang="pt-BR" noProof="1"/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955" noProof="1">
                <a:solidFill>
                  <a:srgbClr val="000000"/>
                </a:solidFill>
                <a:latin typeface="Open Sans Light"/>
                <a:ea typeface="Open Sans Light"/>
                <a:cs typeface="Open Sans Light"/>
                <a:sym typeface="Open Sans"/>
              </a:rPr>
              <a:t>Fundação Escola de Comércio Álvares Penteado - FECAP</a:t>
            </a:r>
            <a:endParaRPr lang="pt-BR" noProof="1"/>
          </a:p>
        </p:txBody>
      </p:sp>
      <p:sp>
        <p:nvSpPr>
          <p:cNvPr id="139" name="Google Shape;139;p1"/>
          <p:cNvSpPr txBox="1"/>
          <p:nvPr/>
        </p:nvSpPr>
        <p:spPr>
          <a:xfrm>
            <a:off x="15617816" y="10880630"/>
            <a:ext cx="11904157" cy="3958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3430" dirty="0"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O </a:t>
            </a:r>
            <a:r>
              <a:rPr lang="pt-BR" sz="3430" i="1" dirty="0" err="1">
                <a:solidFill>
                  <a:schemeClr val="tx1"/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Urban</a:t>
            </a:r>
            <a:r>
              <a:rPr lang="pt-BR" sz="3430" i="1" dirty="0">
                <a:solidFill>
                  <a:schemeClr val="tx1"/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 Chase </a:t>
            </a:r>
            <a:r>
              <a:rPr lang="pt-BR" sz="3430" dirty="0"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foi desenvolvido com sucesso, implementando mecânicas de perseguição urbana em ambiente 3D, inteligência artificial para movimentação do fugitivo e sistemas estratégicos de obstáculos posicionados pelo jogador.</a:t>
            </a:r>
          </a:p>
        </p:txBody>
      </p:sp>
      <p:sp>
        <p:nvSpPr>
          <p:cNvPr id="140" name="Google Shape;140;p1"/>
          <p:cNvSpPr txBox="1"/>
          <p:nvPr/>
        </p:nvSpPr>
        <p:spPr>
          <a:xfrm>
            <a:off x="15714839" y="23891010"/>
            <a:ext cx="11807134" cy="5542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3430" dirty="0"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O jogador controla o policial com movimentação WASD e utiliza mecânicas </a:t>
            </a:r>
            <a:r>
              <a:rPr lang="pt-BR" sz="3430" i="1" dirty="0"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point-</a:t>
            </a:r>
            <a:r>
              <a:rPr lang="pt-BR" sz="3430" i="1" dirty="0" err="1"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and</a:t>
            </a:r>
            <a:r>
              <a:rPr lang="pt-BR" sz="3430" i="1" dirty="0"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-click</a:t>
            </a:r>
            <a:r>
              <a:rPr lang="pt-BR" sz="3430" dirty="0"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 para posicionar obstáculos no cenário. O fugitivo reage dinamicamente aos obstáculos, alterando sua rota em tempo real.</a:t>
            </a:r>
          </a:p>
          <a:p>
            <a:pPr>
              <a:lnSpc>
                <a:spcPct val="150000"/>
              </a:lnSpc>
            </a:pPr>
            <a:r>
              <a:rPr lang="pt-BR" sz="3430" dirty="0"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O jogo reforça a conscientização sobre os impactos da depredação urbana e permitiu a aplicação prática de programação, lógica computacional e trabalho em equipe.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12E31A99-48BE-9F4D-DD03-ADD4A74C06D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889422" y="16123380"/>
            <a:ext cx="11302847" cy="649066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661</TotalTime>
  <Words>476</Words>
  <Application>Microsoft Macintosh PowerPoint</Application>
  <PresentationFormat>Personalizar</PresentationFormat>
  <Paragraphs>29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8" baseType="lpstr">
      <vt:lpstr>Calibri</vt:lpstr>
      <vt:lpstr>Open Sans ExtraBold</vt:lpstr>
      <vt:lpstr>Inter</vt:lpstr>
      <vt:lpstr>Open Sans Light</vt:lpstr>
      <vt:lpstr>Open Sans</vt:lpstr>
      <vt:lpstr>Arial</vt:lpstr>
      <vt:lpstr>Office Theme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Davi George Varella da Silva - 26028412</cp:lastModifiedBy>
  <cp:revision>6</cp:revision>
  <dcterms:created xsi:type="dcterms:W3CDTF">2006-08-16T00:00:00Z</dcterms:created>
  <dcterms:modified xsi:type="dcterms:W3CDTF">2026-05-11T13:11:04Z</dcterms:modified>
</cp:coreProperties>
</file>