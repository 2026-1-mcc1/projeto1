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28800425" cy="43200638"/>
  <p:notesSz cx="6858000" cy="9144000"/>
  <p:embeddedFontLst>
    <p:embeddedFont>
      <p:font typeface="Inter" panose="02000503000000020004" pitchFamily="2" charset="0"/>
      <p:regular r:id="rId4"/>
      <p:bold r:id="rId5"/>
      <p:italic r:id="rId6"/>
      <p:boldItalic r:id="rId7"/>
    </p:embeddedFont>
    <p:embeddedFont>
      <p:font typeface="Open Sans" panose="020B0606030504020204" pitchFamily="34" charset="0"/>
      <p:bold r:id="rId8"/>
      <p:italic r:id="rId9"/>
      <p:boldItalic r:id="rId1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366">
          <p15:clr>
            <a:srgbClr val="A4A3A4"/>
          </p15:clr>
        </p15:guide>
        <p15:guide id="2" pos="5488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3" roundtripDataSignature="AMtx7mi+9yr4mDS8zg5+kfXTqvtBuST67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75"/>
    <p:restoredTop sz="94667"/>
  </p:normalViewPr>
  <p:slideViewPr>
    <p:cSldViewPr snapToGrid="0">
      <p:cViewPr>
        <p:scale>
          <a:sx n="50" d="100"/>
          <a:sy n="50" d="100"/>
        </p:scale>
        <p:origin x="1168" y="1720"/>
      </p:cViewPr>
      <p:guideLst>
        <p:guide orient="horz" pos="4366"/>
        <p:guide pos="5488"/>
      </p:guideLst>
    </p:cSldViewPr>
  </p:slideViewPr>
  <p:notesTextViewPr>
    <p:cViewPr>
      <p:scale>
        <a:sx n="80" d="100"/>
        <a:sy n="8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customschemas.google.com/relationships/presentationmetadata" Target="metadata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5" Type="http://schemas.openxmlformats.org/officeDocument/2006/relationships/viewProps" Target="viewProps.xml"/><Relationship Id="rId10" Type="http://schemas.openxmlformats.org/officeDocument/2006/relationships/font" Target="fonts/font7.fntdata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685800"/>
            <a:ext cx="228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ctrTitle"/>
          </p:nvPr>
        </p:nvSpPr>
        <p:spPr>
          <a:xfrm>
            <a:off x="1306910" y="4305947"/>
            <a:ext cx="14811647" cy="2971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ubTitle" idx="1"/>
          </p:nvPr>
        </p:nvSpPr>
        <p:spPr>
          <a:xfrm>
            <a:off x="2613820" y="7854662"/>
            <a:ext cx="12197827" cy="3542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1220"/>
              </a:spcBef>
              <a:spcAft>
                <a:spcPts val="0"/>
              </a:spcAft>
              <a:buClr>
                <a:srgbClr val="888888"/>
              </a:buClr>
              <a:buSzPts val="6098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1067"/>
              </a:spcBef>
              <a:spcAft>
                <a:spcPts val="0"/>
              </a:spcAft>
              <a:buClr>
                <a:srgbClr val="888888"/>
              </a:buClr>
              <a:buSzPts val="5336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915"/>
              </a:spcBef>
              <a:spcAft>
                <a:spcPts val="0"/>
              </a:spcAft>
              <a:buClr>
                <a:srgbClr val="888888"/>
              </a:buClr>
              <a:buSzPts val="4574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1376492" y="8907084"/>
            <a:ext cx="14811647" cy="2752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623"/>
              <a:buFont typeface="Calibri"/>
              <a:buNone/>
              <a:defRPr sz="7623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body" idx="1"/>
          </p:nvPr>
        </p:nvSpPr>
        <p:spPr>
          <a:xfrm>
            <a:off x="1376492" y="5874955"/>
            <a:ext cx="14811647" cy="3032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686"/>
              </a:spcBef>
              <a:spcAft>
                <a:spcPts val="0"/>
              </a:spcAft>
              <a:buClr>
                <a:srgbClr val="888888"/>
              </a:buClr>
              <a:buSzPts val="3430"/>
              <a:buNone/>
              <a:defRPr sz="343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10"/>
              </a:spcBef>
              <a:spcAft>
                <a:spcPts val="0"/>
              </a:spcAft>
              <a:buClr>
                <a:srgbClr val="888888"/>
              </a:buClr>
              <a:buSzPts val="3049"/>
              <a:buNone/>
              <a:defRPr sz="3049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67436" algn="l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marL="914400" lvl="1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marL="1371600" lvl="2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marL="1828800" lvl="3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marL="2286000" lvl="4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marL="2743200" lvl="5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marL="3200400" lvl="6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marL="3657600" lvl="7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marL="4114800" lvl="8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2"/>
          </p:nvPr>
        </p:nvSpPr>
        <p:spPr>
          <a:xfrm>
            <a:off x="8857946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67436" algn="l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marL="914400" lvl="1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marL="1371600" lvl="2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marL="1828800" lvl="3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marL="2286000" lvl="4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marL="2743200" lvl="5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marL="3200400" lvl="6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marL="3657600" lvl="7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marL="4114800" lvl="8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body" idx="1"/>
          </p:nvPr>
        </p:nvSpPr>
        <p:spPr>
          <a:xfrm>
            <a:off x="871273" y="3102721"/>
            <a:ext cx="7699274" cy="1293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sz="4574" b="1"/>
            </a:lvl1pPr>
            <a:lvl2pPr marL="914400" lvl="1" indent="-228600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sz="3811" b="1"/>
            </a:lvl2pPr>
            <a:lvl3pPr marL="1371600" lvl="2" indent="-228600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sz="3430" b="1"/>
            </a:lvl3pPr>
            <a:lvl4pPr marL="1828800" lvl="3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4pPr>
            <a:lvl5pPr marL="2286000" lvl="4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5pPr>
            <a:lvl6pPr marL="2743200" lvl="5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6pPr>
            <a:lvl7pPr marL="3200400" lvl="6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7pPr>
            <a:lvl8pPr marL="3657600" lvl="7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8pPr>
            <a:lvl9pPr marL="4114800" lvl="8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body" idx="2"/>
          </p:nvPr>
        </p:nvSpPr>
        <p:spPr>
          <a:xfrm>
            <a:off x="871273" y="4395787"/>
            <a:ext cx="7699274" cy="798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marL="914400" lvl="1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marL="1371600" lvl="2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marL="1828800" lvl="3" indent="-422212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marL="2286000" lvl="4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marL="2743200" lvl="5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marL="3200400" lvl="6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marL="3657600" lvl="7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marL="4114800" lvl="8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3"/>
          </p:nvPr>
        </p:nvSpPr>
        <p:spPr>
          <a:xfrm>
            <a:off x="8851896" y="3102721"/>
            <a:ext cx="7702299" cy="1293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sz="4574" b="1"/>
            </a:lvl1pPr>
            <a:lvl2pPr marL="914400" lvl="1" indent="-228600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sz="3811" b="1"/>
            </a:lvl2pPr>
            <a:lvl3pPr marL="1371600" lvl="2" indent="-228600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sz="3430" b="1"/>
            </a:lvl3pPr>
            <a:lvl4pPr marL="1828800" lvl="3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4pPr>
            <a:lvl5pPr marL="2286000" lvl="4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5pPr>
            <a:lvl6pPr marL="2743200" lvl="5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6pPr>
            <a:lvl7pPr marL="3200400" lvl="6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7pPr>
            <a:lvl8pPr marL="3657600" lvl="7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8pPr>
            <a:lvl9pPr marL="4114800" lvl="8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body" idx="4"/>
          </p:nvPr>
        </p:nvSpPr>
        <p:spPr>
          <a:xfrm>
            <a:off x="8851896" y="4395787"/>
            <a:ext cx="7702299" cy="798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marL="914400" lvl="1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marL="1371600" lvl="2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marL="1828800" lvl="3" indent="-422212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marL="2286000" lvl="4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marL="2743200" lvl="5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marL="3200400" lvl="6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marL="3657600" lvl="7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marL="4114800" lvl="8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871274" y="551880"/>
            <a:ext cx="5732859" cy="2348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sz="3811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6812874" y="551881"/>
            <a:ext cx="9741320" cy="11830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615823" algn="l"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Char char="•"/>
              <a:defRPr sz="6098"/>
            </a:lvl1pPr>
            <a:lvl2pPr marL="914400" lvl="1" indent="-567436" algn="l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–"/>
              <a:defRPr sz="5336"/>
            </a:lvl2pPr>
            <a:lvl3pPr marL="1371600" lvl="2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3pPr>
            <a:lvl4pPr marL="1828800" lvl="3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4pPr>
            <a:lvl5pPr marL="2286000" lvl="4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»"/>
              <a:defRPr sz="3811"/>
            </a:lvl5pPr>
            <a:lvl6pPr marL="2743200" lvl="5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6pPr>
            <a:lvl7pPr marL="3200400" lvl="6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7pPr>
            <a:lvl8pPr marL="3657600" lvl="7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8pPr>
            <a:lvl9pPr marL="4114800" lvl="8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871274" y="2900579"/>
            <a:ext cx="5732859" cy="9481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marL="914400" lvl="1" indent="-228600" algn="l"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marL="1371600" lvl="2" indent="-228600" algn="l"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marL="1828800" lvl="3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marL="2286000" lvl="4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marL="2743200" lvl="5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marL="3200400" lvl="6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marL="3657600" lvl="7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marL="4114800" lvl="8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3415514" y="9702817"/>
            <a:ext cx="10455280" cy="1145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sz="3811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3415514" y="1238521"/>
            <a:ext cx="10455280" cy="83167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3415514" y="10848290"/>
            <a:ext cx="10455280" cy="16267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marL="914400" lvl="1" indent="-228600" algn="l"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marL="1371600" lvl="2" indent="-228600" algn="l"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marL="1828800" lvl="3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marL="2286000" lvl="4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marL="2743200" lvl="5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marL="3200400" lvl="6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marL="3657600" lvl="7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marL="4114800" lvl="8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4138869" y="-33322"/>
            <a:ext cx="9147730" cy="1568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8680373" y="4508182"/>
            <a:ext cx="11826913" cy="3920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693699" y="732664"/>
            <a:ext cx="11826913" cy="11471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 sz="838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615823" algn="l" rtl="0"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Font typeface="Arial"/>
              <a:buChar char="•"/>
              <a:defRPr sz="609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567436" algn="l" rtl="0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Font typeface="Arial"/>
              <a:buChar char="–"/>
              <a:defRPr sz="5336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519049" algn="l" rtl="0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Font typeface="Arial"/>
              <a:buChar char="•"/>
              <a:defRPr sz="45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470599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–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»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4F3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"/>
          <p:cNvGrpSpPr/>
          <p:nvPr/>
        </p:nvGrpSpPr>
        <p:grpSpPr>
          <a:xfrm>
            <a:off x="-234721" y="36273035"/>
            <a:ext cx="29324843" cy="6968084"/>
            <a:chOff x="0" y="-47625"/>
            <a:chExt cx="3032124" cy="655203"/>
          </a:xfrm>
        </p:grpSpPr>
        <p:sp>
          <p:nvSpPr>
            <p:cNvPr id="85" name="Google Shape;85;p1"/>
            <p:cNvSpPr/>
            <p:nvPr/>
          </p:nvSpPr>
          <p:spPr>
            <a:xfrm>
              <a:off x="0" y="0"/>
              <a:ext cx="3032124" cy="607578"/>
            </a:xfrm>
            <a:custGeom>
              <a:avLst/>
              <a:gdLst/>
              <a:ahLst/>
              <a:cxnLst/>
              <a:rect l="l" t="t" r="r" b="b"/>
              <a:pathLst>
                <a:path w="3032124" h="607578" extrusionOk="0">
                  <a:moveTo>
                    <a:pt x="0" y="0"/>
                  </a:moveTo>
                  <a:lnTo>
                    <a:pt x="3032124" y="0"/>
                  </a:lnTo>
                  <a:lnTo>
                    <a:pt x="3032124" y="607578"/>
                  </a:lnTo>
                  <a:lnTo>
                    <a:pt x="0" y="607578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86;p1"/>
            <p:cNvSpPr txBox="1"/>
            <p:nvPr/>
          </p:nvSpPr>
          <p:spPr>
            <a:xfrm>
              <a:off x="0" y="-47625"/>
              <a:ext cx="3032124" cy="6552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7" name="Google Shape;87;p1"/>
          <p:cNvSpPr/>
          <p:nvPr/>
        </p:nvSpPr>
        <p:spPr>
          <a:xfrm>
            <a:off x="3163237" y="34829695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 extrusionOk="0">
                <a:moveTo>
                  <a:pt x="0" y="0"/>
                </a:moveTo>
                <a:lnTo>
                  <a:pt x="11948094" y="0"/>
                </a:lnTo>
                <a:lnTo>
                  <a:pt x="11948094" y="7509692"/>
                </a:lnTo>
                <a:lnTo>
                  <a:pt x="0" y="75096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6769" noProof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8" name="Google Shape;88;p1"/>
          <p:cNvGrpSpPr/>
          <p:nvPr/>
        </p:nvGrpSpPr>
        <p:grpSpPr>
          <a:xfrm>
            <a:off x="-234720" y="28800364"/>
            <a:ext cx="29324840" cy="9759747"/>
            <a:chOff x="0" y="-47625"/>
            <a:chExt cx="3163653" cy="917701"/>
          </a:xfrm>
        </p:grpSpPr>
        <p:sp>
          <p:nvSpPr>
            <p:cNvPr id="89" name="Google Shape;89;p1"/>
            <p:cNvSpPr/>
            <p:nvPr/>
          </p:nvSpPr>
          <p:spPr>
            <a:xfrm>
              <a:off x="0" y="0"/>
              <a:ext cx="3163653" cy="870076"/>
            </a:xfrm>
            <a:custGeom>
              <a:avLst/>
              <a:gdLst/>
              <a:ahLst/>
              <a:cxnLst/>
              <a:rect l="l" t="t" r="r" b="b"/>
              <a:pathLst>
                <a:path w="3163653" h="870076" extrusionOk="0">
                  <a:moveTo>
                    <a:pt x="0" y="0"/>
                  </a:moveTo>
                  <a:lnTo>
                    <a:pt x="3163653" y="0"/>
                  </a:lnTo>
                  <a:lnTo>
                    <a:pt x="3163653" y="870076"/>
                  </a:lnTo>
                  <a:lnTo>
                    <a:pt x="0" y="870076"/>
                  </a:lnTo>
                  <a:close/>
                </a:path>
              </a:pathLst>
            </a:custGeom>
            <a:solidFill>
              <a:srgbClr val="044F3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1"/>
            <p:cNvSpPr txBox="1"/>
            <p:nvPr/>
          </p:nvSpPr>
          <p:spPr>
            <a:xfrm>
              <a:off x="0" y="-47625"/>
              <a:ext cx="3163653" cy="9177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l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" name="Google Shape;91;p1"/>
          <p:cNvGrpSpPr/>
          <p:nvPr/>
        </p:nvGrpSpPr>
        <p:grpSpPr>
          <a:xfrm>
            <a:off x="-234719" y="21010291"/>
            <a:ext cx="29324842" cy="9460531"/>
            <a:chOff x="0" y="-47625"/>
            <a:chExt cx="3225442" cy="889566"/>
          </a:xfrm>
        </p:grpSpPr>
        <p:sp>
          <p:nvSpPr>
            <p:cNvPr id="92" name="Google Shape;92;p1"/>
            <p:cNvSpPr/>
            <p:nvPr/>
          </p:nvSpPr>
          <p:spPr>
            <a:xfrm>
              <a:off x="0" y="0"/>
              <a:ext cx="3225442" cy="841941"/>
            </a:xfrm>
            <a:custGeom>
              <a:avLst/>
              <a:gdLst/>
              <a:ahLst/>
              <a:cxnLst/>
              <a:rect l="l" t="t" r="r" b="b"/>
              <a:pathLst>
                <a:path w="3225442" h="841941" extrusionOk="0">
                  <a:moveTo>
                    <a:pt x="0" y="0"/>
                  </a:moveTo>
                  <a:lnTo>
                    <a:pt x="3225442" y="0"/>
                  </a:lnTo>
                  <a:lnTo>
                    <a:pt x="3225442" y="841941"/>
                  </a:lnTo>
                  <a:lnTo>
                    <a:pt x="0" y="841941"/>
                  </a:lnTo>
                  <a:close/>
                </a:path>
              </a:pathLst>
            </a:custGeom>
            <a:solidFill>
              <a:srgbClr val="02332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" name="Google Shape;93;p1"/>
            <p:cNvSpPr txBox="1"/>
            <p:nvPr/>
          </p:nvSpPr>
          <p:spPr>
            <a:xfrm>
              <a:off x="0" y="-47625"/>
              <a:ext cx="3225442" cy="889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" name="Google Shape;94;p1"/>
          <p:cNvGrpSpPr/>
          <p:nvPr/>
        </p:nvGrpSpPr>
        <p:grpSpPr>
          <a:xfrm>
            <a:off x="-234720" y="15561373"/>
            <a:ext cx="29304069" cy="8372962"/>
            <a:chOff x="0" y="-47625"/>
            <a:chExt cx="3032124" cy="787302"/>
          </a:xfrm>
        </p:grpSpPr>
        <p:sp>
          <p:nvSpPr>
            <p:cNvPr id="95" name="Google Shape;95;p1"/>
            <p:cNvSpPr/>
            <p:nvPr/>
          </p:nvSpPr>
          <p:spPr>
            <a:xfrm>
              <a:off x="0" y="0"/>
              <a:ext cx="3032124" cy="739677"/>
            </a:xfrm>
            <a:custGeom>
              <a:avLst/>
              <a:gdLst/>
              <a:ahLst/>
              <a:cxnLst/>
              <a:rect l="l" t="t" r="r" b="b"/>
              <a:pathLst>
                <a:path w="3032124" h="739677" extrusionOk="0">
                  <a:moveTo>
                    <a:pt x="0" y="0"/>
                  </a:moveTo>
                  <a:lnTo>
                    <a:pt x="3032124" y="0"/>
                  </a:lnTo>
                  <a:lnTo>
                    <a:pt x="3032124" y="739677"/>
                  </a:lnTo>
                  <a:lnTo>
                    <a:pt x="0" y="739677"/>
                  </a:lnTo>
                  <a:close/>
                </a:path>
              </a:pathLst>
            </a:custGeom>
            <a:solidFill>
              <a:srgbClr val="0B9E6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1"/>
            <p:cNvSpPr txBox="1"/>
            <p:nvPr/>
          </p:nvSpPr>
          <p:spPr>
            <a:xfrm>
              <a:off x="0" y="-47625"/>
              <a:ext cx="3032124" cy="7873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" name="Google Shape;97;p1"/>
          <p:cNvGrpSpPr/>
          <p:nvPr/>
        </p:nvGrpSpPr>
        <p:grpSpPr>
          <a:xfrm>
            <a:off x="-234719" y="6816147"/>
            <a:ext cx="29304069" cy="9226118"/>
            <a:chOff x="0" y="-47625"/>
            <a:chExt cx="3218728" cy="867524"/>
          </a:xfrm>
        </p:grpSpPr>
        <p:sp>
          <p:nvSpPr>
            <p:cNvPr id="98" name="Google Shape;98;p1"/>
            <p:cNvSpPr/>
            <p:nvPr/>
          </p:nvSpPr>
          <p:spPr>
            <a:xfrm>
              <a:off x="0" y="0"/>
              <a:ext cx="3218728" cy="819899"/>
            </a:xfrm>
            <a:custGeom>
              <a:avLst/>
              <a:gdLst/>
              <a:ahLst/>
              <a:cxnLst/>
              <a:rect l="l" t="t" r="r" b="b"/>
              <a:pathLst>
                <a:path w="3218728" h="819899" extrusionOk="0">
                  <a:moveTo>
                    <a:pt x="0" y="0"/>
                  </a:moveTo>
                  <a:lnTo>
                    <a:pt x="3218728" y="0"/>
                  </a:lnTo>
                  <a:lnTo>
                    <a:pt x="3218728" y="819899"/>
                  </a:lnTo>
                  <a:lnTo>
                    <a:pt x="0" y="819899"/>
                  </a:lnTo>
                  <a:close/>
                </a:path>
              </a:pathLst>
            </a:custGeom>
            <a:solidFill>
              <a:srgbClr val="07734C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1"/>
            <p:cNvSpPr txBox="1"/>
            <p:nvPr/>
          </p:nvSpPr>
          <p:spPr>
            <a:xfrm>
              <a:off x="0" y="-47625"/>
              <a:ext cx="3218728" cy="8675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" name="Google Shape;100;p1"/>
          <p:cNvGrpSpPr/>
          <p:nvPr/>
        </p:nvGrpSpPr>
        <p:grpSpPr>
          <a:xfrm>
            <a:off x="-234719" y="-573881"/>
            <a:ext cx="29324841" cy="9050021"/>
            <a:chOff x="0" y="-47625"/>
            <a:chExt cx="2755436" cy="850966"/>
          </a:xfrm>
        </p:grpSpPr>
        <p:sp>
          <p:nvSpPr>
            <p:cNvPr id="101" name="Google Shape;101;p1"/>
            <p:cNvSpPr/>
            <p:nvPr/>
          </p:nvSpPr>
          <p:spPr>
            <a:xfrm>
              <a:off x="0" y="0"/>
              <a:ext cx="2755436" cy="803341"/>
            </a:xfrm>
            <a:custGeom>
              <a:avLst/>
              <a:gdLst/>
              <a:ahLst/>
              <a:cxnLst/>
              <a:rect l="l" t="t" r="r" b="b"/>
              <a:pathLst>
                <a:path w="2755436" h="803341" extrusionOk="0">
                  <a:moveTo>
                    <a:pt x="0" y="0"/>
                  </a:moveTo>
                  <a:lnTo>
                    <a:pt x="2755436" y="0"/>
                  </a:lnTo>
                  <a:lnTo>
                    <a:pt x="2755436" y="803341"/>
                  </a:lnTo>
                  <a:lnTo>
                    <a:pt x="0" y="803341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1"/>
            <p:cNvSpPr txBox="1"/>
            <p:nvPr/>
          </p:nvSpPr>
          <p:spPr>
            <a:xfrm>
              <a:off x="0" y="-47625"/>
              <a:ext cx="2755436" cy="8509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1"/>
          <p:cNvGrpSpPr/>
          <p:nvPr/>
        </p:nvGrpSpPr>
        <p:grpSpPr>
          <a:xfrm rot="-5400000">
            <a:off x="11084396" y="13184457"/>
            <a:ext cx="20464104" cy="13034120"/>
            <a:chOff x="0" y="-47625"/>
            <a:chExt cx="1922704" cy="1224620"/>
          </a:xfrm>
        </p:grpSpPr>
        <p:sp>
          <p:nvSpPr>
            <p:cNvPr id="104" name="Google Shape;104;p1"/>
            <p:cNvSpPr/>
            <p:nvPr/>
          </p:nvSpPr>
          <p:spPr>
            <a:xfrm>
              <a:off x="0" y="0"/>
              <a:ext cx="1922704" cy="1176995"/>
            </a:xfrm>
            <a:custGeom>
              <a:avLst/>
              <a:gdLst/>
              <a:ahLst/>
              <a:cxnLst/>
              <a:rect l="l" t="t" r="r" b="b"/>
              <a:pathLst>
                <a:path w="1922704" h="1176995" extrusionOk="0">
                  <a:moveTo>
                    <a:pt x="0" y="0"/>
                  </a:moveTo>
                  <a:lnTo>
                    <a:pt x="1922704" y="0"/>
                  </a:lnTo>
                  <a:lnTo>
                    <a:pt x="1922704" y="1176995"/>
                  </a:lnTo>
                  <a:lnTo>
                    <a:pt x="0" y="1176995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1"/>
            <p:cNvSpPr txBox="1"/>
            <p:nvPr/>
          </p:nvSpPr>
          <p:spPr>
            <a:xfrm>
              <a:off x="0" y="-47625"/>
              <a:ext cx="1922704" cy="1224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" name="Google Shape;106;p1"/>
          <p:cNvGrpSpPr/>
          <p:nvPr/>
        </p:nvGrpSpPr>
        <p:grpSpPr>
          <a:xfrm>
            <a:off x="927180" y="30011217"/>
            <a:ext cx="13848538" cy="8253126"/>
            <a:chOff x="0" y="-47625"/>
            <a:chExt cx="1302166" cy="868357"/>
          </a:xfrm>
        </p:grpSpPr>
        <p:sp>
          <p:nvSpPr>
            <p:cNvPr id="107" name="Google Shape;107;p1"/>
            <p:cNvSpPr/>
            <p:nvPr/>
          </p:nvSpPr>
          <p:spPr>
            <a:xfrm>
              <a:off x="0" y="0"/>
              <a:ext cx="1302166" cy="820732"/>
            </a:xfrm>
            <a:custGeom>
              <a:avLst/>
              <a:gdLst/>
              <a:ahLst/>
              <a:cxnLst/>
              <a:rect l="l" t="t" r="r" b="b"/>
              <a:pathLst>
                <a:path w="1302166" h="820732" extrusionOk="0">
                  <a:moveTo>
                    <a:pt x="0" y="0"/>
                  </a:moveTo>
                  <a:lnTo>
                    <a:pt x="1302166" y="0"/>
                  </a:lnTo>
                  <a:lnTo>
                    <a:pt x="1302166" y="820732"/>
                  </a:lnTo>
                  <a:lnTo>
                    <a:pt x="0" y="820732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"/>
            <p:cNvSpPr txBox="1"/>
            <p:nvPr/>
          </p:nvSpPr>
          <p:spPr>
            <a:xfrm>
              <a:off x="0" y="-47625"/>
              <a:ext cx="1302166" cy="8683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" name="Google Shape;109;p1"/>
          <p:cNvGrpSpPr/>
          <p:nvPr/>
        </p:nvGrpSpPr>
        <p:grpSpPr>
          <a:xfrm>
            <a:off x="15403306" y="30021684"/>
            <a:ext cx="12527228" cy="8242659"/>
            <a:chOff x="0" y="-314078"/>
            <a:chExt cx="8764870" cy="5685342"/>
          </a:xfrm>
        </p:grpSpPr>
        <p:grpSp>
          <p:nvGrpSpPr>
            <p:cNvPr id="110" name="Google Shape;110;p1"/>
            <p:cNvGrpSpPr/>
            <p:nvPr/>
          </p:nvGrpSpPr>
          <p:grpSpPr>
            <a:xfrm>
              <a:off x="0" y="-314078"/>
              <a:ext cx="8764870" cy="5685342"/>
              <a:chOff x="0" y="-47625"/>
              <a:chExt cx="1329056" cy="862094"/>
            </a:xfrm>
          </p:grpSpPr>
          <p:sp>
            <p:nvSpPr>
              <p:cNvPr id="111" name="Google Shape;111;p1"/>
              <p:cNvSpPr/>
              <p:nvPr/>
            </p:nvSpPr>
            <p:spPr>
              <a:xfrm>
                <a:off x="0" y="0"/>
                <a:ext cx="1329056" cy="814469"/>
              </a:xfrm>
              <a:custGeom>
                <a:avLst/>
                <a:gdLst/>
                <a:ahLst/>
                <a:cxnLst/>
                <a:rect l="l" t="t" r="r" b="b"/>
                <a:pathLst>
                  <a:path w="1329056" h="814469" extrusionOk="0">
                    <a:moveTo>
                      <a:pt x="0" y="0"/>
                    </a:moveTo>
                    <a:lnTo>
                      <a:pt x="1329056" y="0"/>
                    </a:lnTo>
                    <a:lnTo>
                      <a:pt x="1329056" y="814469"/>
                    </a:lnTo>
                    <a:lnTo>
                      <a:pt x="0" y="814469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 cmpd="sng">
                <a:solidFill>
                  <a:srgbClr val="000000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pt-BR" sz="6769" noProof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" name="Google Shape;112;p1"/>
              <p:cNvSpPr txBox="1"/>
              <p:nvPr/>
            </p:nvSpPr>
            <p:spPr>
              <a:xfrm>
                <a:off x="0" y="-47625"/>
                <a:ext cx="1329056" cy="8620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6800" tIns="96800" rIns="96800" bIns="96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12217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pt-BR" sz="6769" noProof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13" name="Google Shape;113;p1"/>
            <p:cNvSpPr txBox="1"/>
            <p:nvPr/>
          </p:nvSpPr>
          <p:spPr>
            <a:xfrm>
              <a:off x="1064599" y="235141"/>
              <a:ext cx="6635674" cy="43332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100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4762" b="1" noProof="1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REFERÊNCIAS</a:t>
              </a:r>
              <a:endParaRPr lang="pt-BR" noProof="1"/>
            </a:p>
          </p:txBody>
        </p:sp>
      </p:grpSp>
      <p:sp>
        <p:nvSpPr>
          <p:cNvPr id="114" name="Google Shape;114;p1"/>
          <p:cNvSpPr/>
          <p:nvPr/>
        </p:nvSpPr>
        <p:spPr>
          <a:xfrm>
            <a:off x="-916543" y="1525353"/>
            <a:ext cx="8571184" cy="2454222"/>
          </a:xfrm>
          <a:custGeom>
            <a:avLst/>
            <a:gdLst/>
            <a:ahLst/>
            <a:cxnLst/>
            <a:rect l="l" t="t" r="r" b="b"/>
            <a:pathLst>
              <a:path w="4497722" h="1287851" extrusionOk="0">
                <a:moveTo>
                  <a:pt x="0" y="0"/>
                </a:moveTo>
                <a:lnTo>
                  <a:pt x="4497722" y="0"/>
                </a:lnTo>
                <a:lnTo>
                  <a:pt x="4497722" y="1287851"/>
                </a:lnTo>
                <a:lnTo>
                  <a:pt x="0" y="1287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6769" noProof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"/>
          <p:cNvSpPr/>
          <p:nvPr/>
        </p:nvSpPr>
        <p:spPr>
          <a:xfrm>
            <a:off x="3163237" y="-4997460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 extrusionOk="0">
                <a:moveTo>
                  <a:pt x="0" y="0"/>
                </a:moveTo>
                <a:lnTo>
                  <a:pt x="11948094" y="0"/>
                </a:lnTo>
                <a:lnTo>
                  <a:pt x="11948094" y="7509691"/>
                </a:lnTo>
                <a:lnTo>
                  <a:pt x="0" y="75096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6769" noProof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"/>
          <p:cNvSpPr/>
          <p:nvPr/>
        </p:nvSpPr>
        <p:spPr>
          <a:xfrm>
            <a:off x="21014306" y="1712017"/>
            <a:ext cx="7228385" cy="2335060"/>
          </a:xfrm>
          <a:custGeom>
            <a:avLst/>
            <a:gdLst/>
            <a:ahLst/>
            <a:cxnLst/>
            <a:rect l="l" t="t" r="r" b="b"/>
            <a:pathLst>
              <a:path w="3793089" h="1225321" extrusionOk="0">
                <a:moveTo>
                  <a:pt x="0" y="0"/>
                </a:moveTo>
                <a:lnTo>
                  <a:pt x="3793089" y="0"/>
                </a:lnTo>
                <a:lnTo>
                  <a:pt x="3793089" y="1225321"/>
                </a:lnTo>
                <a:lnTo>
                  <a:pt x="0" y="12253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6769" noProof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"/>
          <p:cNvSpPr txBox="1"/>
          <p:nvPr/>
        </p:nvSpPr>
        <p:spPr>
          <a:xfrm>
            <a:off x="5432058" y="12099877"/>
            <a:ext cx="4989818" cy="658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96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77" b="1" noProof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INTRODUÇÃO</a:t>
            </a:r>
            <a:endParaRPr lang="pt-BR" noProof="1"/>
          </a:p>
        </p:txBody>
      </p:sp>
      <p:grpSp>
        <p:nvGrpSpPr>
          <p:cNvPr id="119" name="Google Shape;119;p1"/>
          <p:cNvGrpSpPr/>
          <p:nvPr/>
        </p:nvGrpSpPr>
        <p:grpSpPr>
          <a:xfrm rot="-5400000">
            <a:off x="2494601" y="7477176"/>
            <a:ext cx="10206805" cy="14355430"/>
            <a:chOff x="0" y="-47625"/>
            <a:chExt cx="958980" cy="1348764"/>
          </a:xfrm>
        </p:grpSpPr>
        <p:sp>
          <p:nvSpPr>
            <p:cNvPr id="120" name="Google Shape;120;p1"/>
            <p:cNvSpPr/>
            <p:nvPr/>
          </p:nvSpPr>
          <p:spPr>
            <a:xfrm>
              <a:off x="0" y="0"/>
              <a:ext cx="958980" cy="1301139"/>
            </a:xfrm>
            <a:custGeom>
              <a:avLst/>
              <a:gdLst/>
              <a:ahLst/>
              <a:cxnLst/>
              <a:rect l="l" t="t" r="r" b="b"/>
              <a:pathLst>
                <a:path w="958980" h="1301139" extrusionOk="0">
                  <a:moveTo>
                    <a:pt x="0" y="0"/>
                  </a:moveTo>
                  <a:lnTo>
                    <a:pt x="958980" y="0"/>
                  </a:lnTo>
                  <a:lnTo>
                    <a:pt x="958980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" name="Google Shape;121;p1"/>
            <p:cNvSpPr txBox="1"/>
            <p:nvPr/>
          </p:nvSpPr>
          <p:spPr>
            <a:xfrm>
              <a:off x="0" y="-47625"/>
              <a:ext cx="958980" cy="13487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2" name="Google Shape;122;p1"/>
          <p:cNvGrpSpPr/>
          <p:nvPr/>
        </p:nvGrpSpPr>
        <p:grpSpPr>
          <a:xfrm rot="-5400000">
            <a:off x="2616002" y="17805386"/>
            <a:ext cx="9963998" cy="14355430"/>
            <a:chOff x="0" y="-47625"/>
            <a:chExt cx="936167" cy="1348764"/>
          </a:xfrm>
        </p:grpSpPr>
        <p:sp>
          <p:nvSpPr>
            <p:cNvPr id="123" name="Google Shape;123;p1"/>
            <p:cNvSpPr/>
            <p:nvPr/>
          </p:nvSpPr>
          <p:spPr>
            <a:xfrm>
              <a:off x="0" y="0"/>
              <a:ext cx="936167" cy="1301139"/>
            </a:xfrm>
            <a:custGeom>
              <a:avLst/>
              <a:gdLst/>
              <a:ahLst/>
              <a:cxnLst/>
              <a:rect l="l" t="t" r="r" b="b"/>
              <a:pathLst>
                <a:path w="936167" h="1301139" extrusionOk="0">
                  <a:moveTo>
                    <a:pt x="0" y="0"/>
                  </a:moveTo>
                  <a:lnTo>
                    <a:pt x="936167" y="0"/>
                  </a:lnTo>
                  <a:lnTo>
                    <a:pt x="936167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" name="Google Shape;124;p1"/>
            <p:cNvSpPr txBox="1"/>
            <p:nvPr/>
          </p:nvSpPr>
          <p:spPr>
            <a:xfrm>
              <a:off x="0" y="-47625"/>
              <a:ext cx="936167" cy="13487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5" name="Google Shape;125;p1"/>
          <p:cNvSpPr/>
          <p:nvPr/>
        </p:nvSpPr>
        <p:spPr>
          <a:xfrm>
            <a:off x="22527251" y="36801439"/>
            <a:ext cx="5609093" cy="5642282"/>
          </a:xfrm>
          <a:custGeom>
            <a:avLst/>
            <a:gdLst/>
            <a:ahLst/>
            <a:cxnLst/>
            <a:rect l="l" t="t" r="r" b="b"/>
            <a:pathLst>
              <a:path w="2943367" h="2960783" extrusionOk="0">
                <a:moveTo>
                  <a:pt x="0" y="0"/>
                </a:moveTo>
                <a:lnTo>
                  <a:pt x="2943367" y="0"/>
                </a:lnTo>
                <a:lnTo>
                  <a:pt x="2943367" y="2960784"/>
                </a:lnTo>
                <a:lnTo>
                  <a:pt x="0" y="29607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6769" noProof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"/>
          <p:cNvSpPr txBox="1"/>
          <p:nvPr/>
        </p:nvSpPr>
        <p:spPr>
          <a:xfrm>
            <a:off x="-1" y="4700167"/>
            <a:ext cx="28813765" cy="17771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434" b="1" noProof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PROJETO </a:t>
            </a:r>
            <a:r>
              <a:rPr lang="pt-BR" sz="11434" b="1" noProof="1">
                <a:latin typeface="Open Sans"/>
                <a:ea typeface="Open Sans"/>
                <a:cs typeface="Open Sans"/>
                <a:sym typeface="Open Sans"/>
              </a:rPr>
              <a:t>URBAN CHASE</a:t>
            </a:r>
            <a:endParaRPr lang="pt-BR" noProof="1"/>
          </a:p>
        </p:txBody>
      </p:sp>
      <p:sp>
        <p:nvSpPr>
          <p:cNvPr id="127" name="Google Shape;127;p1"/>
          <p:cNvSpPr txBox="1"/>
          <p:nvPr/>
        </p:nvSpPr>
        <p:spPr>
          <a:xfrm>
            <a:off x="-234723" y="6355587"/>
            <a:ext cx="29324843" cy="20519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762" b="1" noProof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André Makoto, Caio Fabio, Davi Varella, Davi Moraes</a:t>
            </a:r>
            <a:endParaRPr lang="pt-BR" noProof="1"/>
          </a:p>
          <a:p>
            <a:pPr lvl="0" algn="ctr">
              <a:lnSpc>
                <a:spcPct val="140025"/>
              </a:lnSpc>
            </a:pPr>
            <a:r>
              <a:rPr lang="pt-BR" sz="4762" b="1" noProof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Orientadores</a:t>
            </a:r>
            <a:r>
              <a:rPr lang="pt-BR" sz="4762" b="1" noProof="1">
                <a:latin typeface="Open Sans"/>
                <a:ea typeface="Open Sans"/>
                <a:cs typeface="Open Sans"/>
                <a:sym typeface="Open Sans"/>
              </a:rPr>
              <a:t>: Adriano Felix, David de Oliveira, Eduardo Savino, Renata Muniz, Victor Rosetti </a:t>
            </a:r>
            <a:endParaRPr lang="pt-BR" noProof="1"/>
          </a:p>
        </p:txBody>
      </p:sp>
      <p:sp>
        <p:nvSpPr>
          <p:cNvPr id="128" name="Google Shape;128;p1"/>
          <p:cNvSpPr txBox="1"/>
          <p:nvPr/>
        </p:nvSpPr>
        <p:spPr>
          <a:xfrm>
            <a:off x="15324243" y="15152551"/>
            <a:ext cx="12433206" cy="533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30" noProof="1">
                <a:latin typeface="Inter"/>
                <a:ea typeface="Inter"/>
                <a:cs typeface="Inter"/>
                <a:sym typeface="Inter"/>
              </a:rPr>
              <a:t>Fase 1</a:t>
            </a:r>
            <a:r>
              <a:rPr lang="pt-BR" sz="3430" noProof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: Urban Chase</a:t>
            </a:r>
            <a:endParaRPr lang="pt-BR" noProof="1"/>
          </a:p>
        </p:txBody>
      </p:sp>
      <p:sp>
        <p:nvSpPr>
          <p:cNvPr id="129" name="Google Shape;129;p1"/>
          <p:cNvSpPr txBox="1"/>
          <p:nvPr/>
        </p:nvSpPr>
        <p:spPr>
          <a:xfrm>
            <a:off x="15353293" y="23110704"/>
            <a:ext cx="12433206" cy="533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30" noProof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Fonte: Urban Chase (2026)</a:t>
            </a:r>
            <a:endParaRPr lang="pt-BR" noProof="1"/>
          </a:p>
        </p:txBody>
      </p:sp>
      <p:sp>
        <p:nvSpPr>
          <p:cNvPr id="130" name="Google Shape;130;p1"/>
          <p:cNvSpPr txBox="1"/>
          <p:nvPr/>
        </p:nvSpPr>
        <p:spPr>
          <a:xfrm>
            <a:off x="2561448" y="30828367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762" b="1" noProof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TECNOLOGIAS UTILIZADAS</a:t>
            </a:r>
            <a:endParaRPr lang="pt-BR" noProof="1"/>
          </a:p>
        </p:txBody>
      </p:sp>
      <p:sp>
        <p:nvSpPr>
          <p:cNvPr id="131" name="Google Shape;131;p1"/>
          <p:cNvSpPr txBox="1"/>
          <p:nvPr/>
        </p:nvSpPr>
        <p:spPr>
          <a:xfrm>
            <a:off x="16447653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762" b="1" noProof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RESULTADOS</a:t>
            </a:r>
            <a:endParaRPr lang="pt-BR" noProof="1"/>
          </a:p>
        </p:txBody>
      </p:sp>
      <p:sp>
        <p:nvSpPr>
          <p:cNvPr id="132" name="Google Shape;132;p1"/>
          <p:cNvSpPr txBox="1"/>
          <p:nvPr/>
        </p:nvSpPr>
        <p:spPr>
          <a:xfrm>
            <a:off x="2644303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762" b="1" noProof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 PROBLEMA</a:t>
            </a:r>
            <a:endParaRPr lang="pt-BR" noProof="1"/>
          </a:p>
        </p:txBody>
      </p:sp>
      <p:sp>
        <p:nvSpPr>
          <p:cNvPr id="133" name="Google Shape;133;p1"/>
          <p:cNvSpPr txBox="1"/>
          <p:nvPr/>
        </p:nvSpPr>
        <p:spPr>
          <a:xfrm>
            <a:off x="2758254" y="20302839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762" b="1" noProof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 PROPOSTA</a:t>
            </a:r>
            <a:endParaRPr lang="pt-BR" noProof="1"/>
          </a:p>
        </p:txBody>
      </p:sp>
      <p:sp>
        <p:nvSpPr>
          <p:cNvPr id="134" name="Google Shape;134;p1"/>
          <p:cNvSpPr txBox="1"/>
          <p:nvPr/>
        </p:nvSpPr>
        <p:spPr>
          <a:xfrm>
            <a:off x="15840846" y="31787102"/>
            <a:ext cx="11400000" cy="5515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just">
              <a:lnSpc>
                <a:spcPct val="140000"/>
              </a:lnSpc>
            </a:pPr>
            <a:r>
              <a:rPr lang="pt-BR" sz="3200" noProof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SILICON &amp; SYNAPSE. Rock 'n' Roll Racing. Publicado por Interplay Productions. Super Nintendo Entertainment System, 1993.</a:t>
            </a:r>
          </a:p>
          <a:p>
            <a:pPr lvl="0" algn="just">
              <a:lnSpc>
                <a:spcPct val="140000"/>
              </a:lnSpc>
            </a:pPr>
            <a:endParaRPr lang="pt-BR" sz="3200" noProof="1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lvl="0" algn="just">
              <a:lnSpc>
                <a:spcPct val="140000"/>
              </a:lnSpc>
            </a:pPr>
            <a:r>
              <a:rPr lang="pt-BR" sz="3200" noProof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YGGBRASIL EDUCAÇÃO DO FUTURO. Criando um projeto com Unity 6. [S.l.]: YouTube, 2025. Disponível em: https://youtube.com/watch?v=TBUJWUvc1Eg. Acesso em: 27 mar. 2026.</a:t>
            </a:r>
          </a:p>
        </p:txBody>
      </p:sp>
      <p:sp>
        <p:nvSpPr>
          <p:cNvPr id="135" name="Google Shape;135;p1"/>
          <p:cNvSpPr txBox="1"/>
          <p:nvPr/>
        </p:nvSpPr>
        <p:spPr>
          <a:xfrm>
            <a:off x="1595875" y="31719850"/>
            <a:ext cx="12562800" cy="63340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 jogo foi desenvolvido utilizando a </a:t>
            </a:r>
            <a:r>
              <a:rPr lang="pt-BR" sz="343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engine</a:t>
            </a: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Unity com programação em C#, suportando toda a lógica de perseguição, física e interação com o ambiente urbano.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Unity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C#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GitHub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43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Kanban</a:t>
            </a: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43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Notion</a:t>
            </a: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Claude IA</a:t>
            </a:r>
          </a:p>
          <a:p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Controle de versão, gestão de tarefas, organização do projeto e suporte com inteligência artificial integrados ao fluxo de desenvolvimento.</a:t>
            </a:r>
          </a:p>
        </p:txBody>
      </p:sp>
      <p:sp>
        <p:nvSpPr>
          <p:cNvPr id="136" name="Google Shape;136;p1"/>
          <p:cNvSpPr txBox="1"/>
          <p:nvPr/>
        </p:nvSpPr>
        <p:spPr>
          <a:xfrm>
            <a:off x="1595870" y="10749184"/>
            <a:ext cx="12562800" cy="7389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just">
              <a:lnSpc>
                <a:spcPct val="140000"/>
              </a:lnSpc>
            </a:pP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 depredação do patrimônio público gera prejuízos diretos à coletividade, comprometendo recursos e serviços que pertencem a todos. Monumentos, vias e equipamentos urbanos danificados representam custos que recaem sobre a população, degradando a qualidade de vida nas cidades e afastando investimentos do espaço urbano. Agentes de segurança, por sua vez, enfrentam o desafio cotidiano de conter essas ocorrências sem agravar ainda mais os danos ao ambiente e às pessoas ao redor, precisando tomar decisões rápidas e precisas em situações imprevisíveis onde qualquer erro tem consequências coletivas.</a:t>
            </a:r>
            <a:endParaRPr lang="pt-BR" sz="3430" noProof="1">
              <a:solidFill>
                <a:srgbClr val="000000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Open Sans"/>
            </a:endParaRPr>
          </a:p>
        </p:txBody>
      </p:sp>
      <p:sp>
        <p:nvSpPr>
          <p:cNvPr id="137" name="Google Shape;137;p1"/>
          <p:cNvSpPr txBox="1"/>
          <p:nvPr/>
        </p:nvSpPr>
        <p:spPr>
          <a:xfrm>
            <a:off x="1670967" y="21254425"/>
            <a:ext cx="12399470" cy="8128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just">
              <a:lnSpc>
                <a:spcPct val="140000"/>
              </a:lnSpc>
            </a:pPr>
            <a:r>
              <a:rPr lang="pt-BR" sz="343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Urban</a:t>
            </a: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Chase é um jogo 3D em terceira pessoa que coloca o jogador no papel do Detetive Paul, um agente responsável por interceptar um fugitivo em ambiente urbano utilizando estratégia e raciocínio tático. Por meio de mecânicas de ponto e clique, o jogador posiciona obstáculos no cenário para conter o avanço do vândalo, vivenciando na prática a dificuldade de agir com eficiência sem causar danos colaterais à cidade e aos cidadãos. Essa experiência gamificada promove a conscientização sobre os impactos individuais e coletivos da depredação do patrimônio público, unindo entretenimento e reflexão social.</a:t>
            </a:r>
            <a:endParaRPr lang="pt-BR" sz="3430" noProof="1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38" name="Google Shape;138;p1"/>
          <p:cNvSpPr txBox="1"/>
          <p:nvPr/>
        </p:nvSpPr>
        <p:spPr>
          <a:xfrm>
            <a:off x="136933" y="39681833"/>
            <a:ext cx="28242600" cy="183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955" b="1" noProof="1">
                <a:latin typeface="Open Sans"/>
                <a:ea typeface="Open Sans"/>
                <a:cs typeface="Open Sans"/>
                <a:sym typeface="Open Sans"/>
              </a:rPr>
              <a:t>IV </a:t>
            </a:r>
            <a:r>
              <a:rPr lang="pt-BR" sz="4955" b="1" noProof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SEMANA FECAP DE TECNOLOGIA - 2026</a:t>
            </a:r>
            <a:endParaRPr lang="pt-BR" noProof="1"/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955" noProof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Fundação Escola de Comércio Álvares Penteado - FECAP</a:t>
            </a:r>
            <a:endParaRPr lang="pt-BR" noProof="1"/>
          </a:p>
        </p:txBody>
      </p:sp>
      <p:sp>
        <p:nvSpPr>
          <p:cNvPr id="139" name="Google Shape;139;p1"/>
          <p:cNvSpPr txBox="1"/>
          <p:nvPr/>
        </p:nvSpPr>
        <p:spPr>
          <a:xfrm>
            <a:off x="15617816" y="10880630"/>
            <a:ext cx="11904157" cy="36948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just"/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 game </a:t>
            </a:r>
            <a:r>
              <a:rPr lang="pt-BR" sz="343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Urban</a:t>
            </a: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Chase foi concluído com sucesso, implementando a mecânica central de perseguição em ambiente urbano 3D e o sistema de posicionamento de obstáculos via point-</a:t>
            </a:r>
            <a:r>
              <a:rPr lang="pt-BR" sz="343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</a:t>
            </a: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-click. O jogador perde pontuação a cada colisão que o fugitivo causa durante a fuga, criando uma relação direta entre as decisões táticas do policial e o impacto gerado no patrimônio urbano.</a:t>
            </a:r>
          </a:p>
        </p:txBody>
      </p:sp>
      <p:sp>
        <p:nvSpPr>
          <p:cNvPr id="140" name="Google Shape;140;p1"/>
          <p:cNvSpPr txBox="1"/>
          <p:nvPr/>
        </p:nvSpPr>
        <p:spPr>
          <a:xfrm>
            <a:off x="15714839" y="23891010"/>
            <a:ext cx="11652014" cy="51728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just">
              <a:lnSpc>
                <a:spcPct val="140000"/>
              </a:lnSpc>
            </a:pP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 comportamento autônomo do fugitivo, controlado por inteligência artificial, reage aos obstáculos posicionados e recalcula rotas em tempo real. O desenvolvimento envolveu a aplicação prática de programação em C# com Unity, e colaboração contínua entre os membros da equipe, validando tanto a proposta educativa do projeto quanto a capacidade técnica dos desenvolvedores.</a:t>
            </a:r>
            <a:endParaRPr lang="pt-BR" sz="3430" noProof="1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12E31A99-48BE-9F4D-DD03-ADD4A74C06D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918469" y="16198183"/>
            <a:ext cx="11302847" cy="649066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507</Words>
  <Application>Microsoft Macintosh PowerPoint</Application>
  <PresentationFormat>Personalizar</PresentationFormat>
  <Paragraphs>28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Arial</vt:lpstr>
      <vt:lpstr>Calibri</vt:lpstr>
      <vt:lpstr>Open Sans</vt:lpstr>
      <vt:lpstr>Inter</vt:lpstr>
      <vt:lpstr>Office Theme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Davi George Varella da Silva - 26028412</cp:lastModifiedBy>
  <cp:revision>2</cp:revision>
  <dcterms:created xsi:type="dcterms:W3CDTF">2006-08-16T00:00:00Z</dcterms:created>
  <dcterms:modified xsi:type="dcterms:W3CDTF">2026-05-04T13:25:53Z</dcterms:modified>
</cp:coreProperties>
</file>