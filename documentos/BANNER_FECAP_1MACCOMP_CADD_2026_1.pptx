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Inter" panose="02000503000000020004" pitchFamily="2" charset="0"/>
      <p:regular r:id="rId4"/>
      <p:bold r:id="rId5"/>
      <p:italic r:id="rId6"/>
      <p:boldItalic r:id="rId7"/>
    </p:embeddedFont>
    <p:embeddedFont>
      <p:font typeface="Open Sans" pitchFamily="2" charset="0"/>
      <p:regular r:id="rId8"/>
      <p:bold r:id="rId9"/>
      <p:italic r:id="rId10"/>
      <p:boldItalic r:id="rId11"/>
    </p:embeddedFont>
    <p:embeddedFont>
      <p:font typeface="Open Sans ExtraBold" pitchFamily="2" charset="0"/>
      <p:bold r:id="rId12"/>
      <p:italic r:id="rId13"/>
      <p:boldItalic r:id="rId14"/>
    </p:embeddedFont>
    <p:embeddedFont>
      <p:font typeface="Open Sans Light" pitchFamily="2" charset="0"/>
      <p:regular r:id="rId15"/>
      <p: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i+9yr4mDS8zg5+kfXTqvtBuST6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79"/>
    <p:restoredTop sz="94667"/>
  </p:normalViewPr>
  <p:slideViewPr>
    <p:cSldViewPr snapToGrid="0">
      <p:cViewPr>
        <p:scale>
          <a:sx n="50" d="100"/>
          <a:sy n="50" d="100"/>
        </p:scale>
        <p:origin x="1208" y="1720"/>
      </p:cViewPr>
      <p:guideLst>
        <p:guide orient="horz" pos="4366"/>
        <p:guide pos="5488"/>
      </p:guideLst>
    </p:cSldViewPr>
  </p:slideViewPr>
  <p:notesTextViewPr>
    <p:cViewPr>
      <p:scale>
        <a:sx n="80" d="100"/>
        <a:sy n="8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21" Type="http://schemas.openxmlformats.org/officeDocument/2006/relationships/tableStyles" Target="tableStyles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1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font" Target="fonts/font12.fntdata"/><Relationship Id="rId10" Type="http://schemas.openxmlformats.org/officeDocument/2006/relationships/font" Target="fonts/font7.fntdata"/><Relationship Id="rId19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24840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6" y="13184457"/>
            <a:ext cx="20464104" cy="13034120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80" y="30011217"/>
            <a:ext cx="13848538" cy="8253126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306" y="30021684"/>
            <a:ext cx="12527228" cy="824265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pt-BR" sz="6769" noProof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pt-BR" sz="6769" noProof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762" b="1" noProof="1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"/>
                </a:rPr>
                <a:t>REFERÊNCIAS</a:t>
              </a:r>
              <a:endParaRPr lang="pt-BR" noProof="1"/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77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INTRODUÇÃO</a:t>
            </a:r>
            <a:endParaRPr lang="pt-BR" noProof="1"/>
          </a:p>
        </p:txBody>
      </p:sp>
      <p:grpSp>
        <p:nvGrpSpPr>
          <p:cNvPr id="119" name="Google Shape;119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20" name="Google Shape;120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" name="Google Shape;125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-1" y="4700167"/>
            <a:ext cx="28813765" cy="1777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434" b="1" noProof="1">
                <a:latin typeface="Open Sans ExtraBold"/>
                <a:ea typeface="Open Sans ExtraBold"/>
                <a:cs typeface="Open Sans ExtraBold"/>
                <a:sym typeface="Open Sans"/>
              </a:rPr>
              <a:t>URBAN CHASE</a:t>
            </a:r>
            <a:endParaRPr lang="pt-BR" noProof="1"/>
          </a:p>
        </p:txBody>
      </p:sp>
      <p:sp>
        <p:nvSpPr>
          <p:cNvPr id="127" name="Google Shape;127;p1"/>
          <p:cNvSpPr txBox="1"/>
          <p:nvPr/>
        </p:nvSpPr>
        <p:spPr>
          <a:xfrm>
            <a:off x="-234723" y="6355587"/>
            <a:ext cx="29324843" cy="2051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André Makoto, Caio Fabio, Davi Varella, Davi Moraes</a:t>
            </a:r>
            <a:endParaRPr lang="pt-BR" noProof="1"/>
          </a:p>
          <a:p>
            <a:pPr lvl="0" algn="ctr">
              <a:lnSpc>
                <a:spcPct val="140025"/>
              </a:lnSpc>
            </a:pPr>
            <a:r>
              <a:rPr lang="pt-BR" sz="4762" noProof="1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  <a:sym typeface="Open Sans"/>
              </a:rPr>
              <a:t>Orientadores: Adriano Felix, David de Oliveira, Eduardo Savino, Luis Pires, </a:t>
            </a:r>
            <a:r>
              <a:rPr lang="pt-BR" sz="4762" noProof="1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  <a:sym typeface="Open Sans"/>
              </a:rPr>
              <a:t>Renata Muniz, Victor Rosetti </a:t>
            </a:r>
            <a:endParaRPr lang="pt-BR" noProof="1">
              <a:solidFill>
                <a:schemeClr val="tx1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15099844" y="15177356"/>
            <a:ext cx="12433206" cy="533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noProof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Cena Planejamento: Urban Chase</a:t>
            </a:r>
            <a:endParaRPr lang="pt-BR" noProof="1"/>
          </a:p>
        </p:txBody>
      </p:sp>
      <p:sp>
        <p:nvSpPr>
          <p:cNvPr id="129" name="Google Shape;129;p1"/>
          <p:cNvSpPr txBox="1"/>
          <p:nvPr/>
        </p:nvSpPr>
        <p:spPr>
          <a:xfrm>
            <a:off x="15353290" y="23008444"/>
            <a:ext cx="12433206" cy="533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noProof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Urban Chase (2026)</a:t>
            </a:r>
            <a:endParaRPr lang="pt-BR" noProof="1"/>
          </a:p>
        </p:txBody>
      </p:sp>
      <p:sp>
        <p:nvSpPr>
          <p:cNvPr id="130" name="Google Shape;130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TECNOLOGIAS UTILIZADAS</a:t>
            </a:r>
            <a:endParaRPr lang="pt-BR" noProof="1"/>
          </a:p>
        </p:txBody>
      </p:sp>
      <p:sp>
        <p:nvSpPr>
          <p:cNvPr id="131" name="Google Shape;131;p1"/>
          <p:cNvSpPr txBox="1"/>
          <p:nvPr/>
        </p:nvSpPr>
        <p:spPr>
          <a:xfrm>
            <a:off x="1644765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RESULTADOS</a:t>
            </a:r>
            <a:endParaRPr lang="pt-BR" noProof="1"/>
          </a:p>
        </p:txBody>
      </p:sp>
      <p:sp>
        <p:nvSpPr>
          <p:cNvPr id="132" name="Google Shape;132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O PROBLEMA</a:t>
            </a:r>
            <a:endParaRPr lang="pt-BR" noProof="1"/>
          </a:p>
        </p:txBody>
      </p:sp>
      <p:sp>
        <p:nvSpPr>
          <p:cNvPr id="133" name="Google Shape;133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A PROPOSTA</a:t>
            </a:r>
            <a:endParaRPr lang="pt-BR" noProof="1"/>
          </a:p>
        </p:txBody>
      </p:sp>
      <p:sp>
        <p:nvSpPr>
          <p:cNvPr id="134" name="Google Shape;134;p1"/>
          <p:cNvSpPr txBox="1"/>
          <p:nvPr/>
        </p:nvSpPr>
        <p:spPr>
          <a:xfrm>
            <a:off x="15714840" y="31592544"/>
            <a:ext cx="11827476" cy="6334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FÓRUM BRASILEIRO DE SEGURANÇA PÚBLICA. Anuário Brasileiro de Segurança Pública 2025. São Paulo, 2025.</a:t>
            </a:r>
          </a:p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LOPES, Leandro de Souza. Percepção de segurança no Paraná: análise de fatores associados a partir de um inquérito online gamificado. Revista do Instituto Brasileiro de Segurança Pública, 2025.</a:t>
            </a:r>
          </a:p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PRENSKY, Marc. Aprendizagem baseada em jogos digitais. São Paulo: Senac, 2012.</a:t>
            </a:r>
          </a:p>
        </p:txBody>
      </p:sp>
      <p:sp>
        <p:nvSpPr>
          <p:cNvPr id="135" name="Google Shape;135;p1"/>
          <p:cNvSpPr txBox="1"/>
          <p:nvPr/>
        </p:nvSpPr>
        <p:spPr>
          <a:xfrm>
            <a:off x="1553309" y="31656460"/>
            <a:ext cx="12747315" cy="6334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42950" indent="-7429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Unity: Desenvolvimento do ambiente 3D, física e mecânicas do jogo</a:t>
            </a: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.</a:t>
            </a:r>
          </a:p>
          <a:p>
            <a:pPr marL="742950" indent="-7429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C#: Lógica de programação.</a:t>
            </a:r>
          </a:p>
          <a:p>
            <a:pPr marL="742950" indent="-7429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430" dirty="0" err="1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Git</a:t>
            </a: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e GitHub: Controle de versão e compartilhamento do código.</a:t>
            </a:r>
          </a:p>
          <a:p>
            <a:pPr marL="742950" indent="-7429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430" dirty="0" err="1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Kanban</a:t>
            </a: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: Organização das tarefas do projeto.</a:t>
            </a:r>
          </a:p>
          <a:p>
            <a:pPr marL="742950" indent="-7429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430" dirty="0" err="1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Notion</a:t>
            </a: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: P</a:t>
            </a: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lanejamento da equipe</a:t>
            </a: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.</a:t>
            </a:r>
          </a:p>
          <a:p>
            <a:pPr marL="742950" indent="-7429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Claude IA: Apoio técnico</a:t>
            </a:r>
            <a:endParaRPr lang="pt-BR" sz="3430" dirty="0">
              <a:solidFill>
                <a:schemeClr val="tx1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475104" y="10797897"/>
            <a:ext cx="12804342" cy="8709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A depredação do patrimônio público gera prejuízos diretos à coletividade, comprometendo recursos e serviços essenciais à população. Atos de vandalismo urbano impactam diretamente a qualidade de vida, aumentam gastos públicos e contribuem para a sensação de insegurança social (FÓRUM BRASILEIRO DE SEGURANÇA PÚBLICA, 2025).</a:t>
            </a:r>
          </a:p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A percepção de segurança da população está diretamente ligada à preservação dos espaços urbanos e à confiança nas instituições públicas (LOPES, 2025). Nesse contexto, agentes de segurança enfrentam o desafio de conter ocorrências sem ampliar os danos ao patrimônio e às pessoas ao redor. </a:t>
            </a:r>
          </a:p>
        </p:txBody>
      </p:sp>
      <p:sp>
        <p:nvSpPr>
          <p:cNvPr id="137" name="Google Shape;137;p1"/>
          <p:cNvSpPr txBox="1"/>
          <p:nvPr/>
        </p:nvSpPr>
        <p:spPr>
          <a:xfrm>
            <a:off x="1367135" y="21172965"/>
            <a:ext cx="12968622" cy="8709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Diante do crescimento dos casos de vandalismo urbano e dos prejuízos causados ao patrimônio público, a equipe desenvolveu o “</a:t>
            </a:r>
            <a:r>
              <a:rPr lang="pt-BR" sz="3430" i="1" dirty="0" err="1"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Urban</a:t>
            </a:r>
            <a:r>
              <a:rPr lang="pt-BR" sz="3430" i="1" dirty="0"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 Chase”</a:t>
            </a:r>
            <a:r>
              <a:rPr lang="pt-BR" sz="3430" b="1" dirty="0"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 </a:t>
            </a: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com o objetivo de promover conscientização social por meio da gamificação. O projeto foi motivado pela necessidade de representar, de forma interativa, os desafios enfrentados por agentes de segurança ao tentar conter criminosos sem causar danos à cidade e à população.</a:t>
            </a:r>
          </a:p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A proposta utiliza conceitos de gamificação aplicados à educação e à conscientização social, prática considerada eficiente para aumentar o engajamento e o aprendizado em ambientes digitais (PRENSKY, 2012).</a:t>
            </a:r>
          </a:p>
        </p:txBody>
      </p:sp>
      <p:sp>
        <p:nvSpPr>
          <p:cNvPr id="138" name="Google Shape;138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955" b="1" noProof="1">
                <a:latin typeface="Open Sans ExtraBold"/>
                <a:ea typeface="Open Sans ExtraBold"/>
                <a:cs typeface="Open Sans ExtraBold"/>
                <a:sym typeface="Open Sans"/>
              </a:rPr>
              <a:t>IV </a:t>
            </a:r>
            <a:r>
              <a:rPr lang="pt-BR" sz="4955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SEMANA FECAP DE TECNOLOGIA - 2026</a:t>
            </a:r>
            <a:endParaRPr lang="pt-BR" noProof="1"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955" noProof="1">
                <a:solidFill>
                  <a:srgbClr val="000000"/>
                </a:solidFill>
                <a:latin typeface="Open Sans Light"/>
                <a:ea typeface="Open Sans Light"/>
                <a:cs typeface="Open Sans Light"/>
                <a:sym typeface="Open Sans"/>
              </a:rPr>
              <a:t>Fundação Escola de Comércio Álvares Penteado - FECAP</a:t>
            </a:r>
            <a:endParaRPr lang="pt-BR" noProof="1"/>
          </a:p>
        </p:txBody>
      </p:sp>
      <p:sp>
        <p:nvSpPr>
          <p:cNvPr id="139" name="Google Shape;139;p1"/>
          <p:cNvSpPr txBox="1"/>
          <p:nvPr/>
        </p:nvSpPr>
        <p:spPr>
          <a:xfrm>
            <a:off x="15617816" y="10880630"/>
            <a:ext cx="11904157" cy="3958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O </a:t>
            </a:r>
            <a:r>
              <a:rPr lang="pt-BR" sz="3430" i="1" dirty="0" err="1">
                <a:solidFill>
                  <a:schemeClr val="tx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Urban</a:t>
            </a:r>
            <a:r>
              <a:rPr lang="pt-BR" sz="3430" i="1" dirty="0">
                <a:solidFill>
                  <a:schemeClr val="tx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 Chase</a:t>
            </a: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</a:t>
            </a: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foi desenvolvido com sucesso, implementando mecânicas de perseguição urbana em ambiente 3D, inteligência artificial para movimentação do fugitivo e sistemas estratégicos de obstáculos posicionados pelo jogador.</a:t>
            </a:r>
          </a:p>
        </p:txBody>
      </p:sp>
      <p:sp>
        <p:nvSpPr>
          <p:cNvPr id="140" name="Google Shape;140;p1"/>
          <p:cNvSpPr txBox="1"/>
          <p:nvPr/>
        </p:nvSpPr>
        <p:spPr>
          <a:xfrm>
            <a:off x="15714839" y="23891010"/>
            <a:ext cx="11807134" cy="5542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O jogador controla o policial com movimentação WASD e utiliza mecânicas </a:t>
            </a:r>
            <a:r>
              <a:rPr lang="pt-BR" sz="3430" i="1" dirty="0"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point-</a:t>
            </a:r>
            <a:r>
              <a:rPr lang="pt-BR" sz="3430" i="1" dirty="0" err="1"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and</a:t>
            </a:r>
            <a:r>
              <a:rPr lang="pt-BR" sz="3430" i="1" dirty="0"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-click</a:t>
            </a: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para posicionar obstáculos no cenário. O fugitivo reage dinamicamente aos obstáculos, alterando sua rota em tempo real.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O jogo reforça a conscientização sobre os impactos da depredação urbana e permitiu a aplicação prática de programação, lógica computacional e trabalho em equipe</a:t>
            </a: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2E31A99-48BE-9F4D-DD03-ADD4A74C06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89422" y="16123380"/>
            <a:ext cx="11302847" cy="6490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656</TotalTime>
  <Words>478</Words>
  <Application>Microsoft Macintosh PowerPoint</Application>
  <PresentationFormat>Personalizar</PresentationFormat>
  <Paragraphs>29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8" baseType="lpstr">
      <vt:lpstr>Open Sans</vt:lpstr>
      <vt:lpstr>Arial</vt:lpstr>
      <vt:lpstr>Calibri</vt:lpstr>
      <vt:lpstr>Open Sans ExtraBold</vt:lpstr>
      <vt:lpstr>Inter</vt:lpstr>
      <vt:lpstr>Open Sans Light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Davi George Varella da Silva - 26028412</cp:lastModifiedBy>
  <cp:revision>5</cp:revision>
  <dcterms:created xsi:type="dcterms:W3CDTF">2006-08-16T00:00:00Z</dcterms:created>
  <dcterms:modified xsi:type="dcterms:W3CDTF">2026-05-08T21:34:37Z</dcterms:modified>
</cp:coreProperties>
</file>