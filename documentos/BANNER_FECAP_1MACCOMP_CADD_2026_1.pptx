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00503000000020004" pitchFamily="2" charset="0"/>
      <p:regular r:id="rId4"/>
      <p:bold r:id="rId5"/>
      <p:italic r:id="rId6"/>
      <p:boldItalic r:id="rId7"/>
    </p:embeddedFont>
    <p:embeddedFont>
      <p:font typeface="Open Sans" pitchFamily="2" charset="0"/>
      <p:regular r:id="rId8"/>
      <p:bold r:id="rId9"/>
      <p:italic r:id="rId10"/>
      <p:boldItalic r:id="rId11"/>
    </p:embeddedFont>
    <p:embeddedFont>
      <p:font typeface="Open Sans ExtraBold" pitchFamily="2" charset="0"/>
      <p:bold r:id="rId12"/>
      <p:italic r:id="rId13"/>
      <p:boldItalic r:id="rId14"/>
    </p:embeddedFont>
    <p:embeddedFont>
      <p:font typeface="Open Sans Light" pitchFamily="2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9"/>
    <p:restoredTop sz="94667"/>
  </p:normalViewPr>
  <p:slideViewPr>
    <p:cSldViewPr snapToGrid="0">
      <p:cViewPr>
        <p:scale>
          <a:sx n="50" d="100"/>
          <a:sy n="50" d="100"/>
        </p:scale>
        <p:origin x="1208" y="-2520"/>
      </p:cViewPr>
      <p:guideLst>
        <p:guide orient="horz" pos="4366"/>
        <p:guide pos="5488"/>
      </p:guideLst>
    </p:cSldViewPr>
  </p:slideViewPr>
  <p:notesTextViewPr>
    <p:cViewPr>
      <p:scale>
        <a:sx n="80" d="100"/>
        <a:sy n="8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24840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8253126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021684"/>
            <a:ext cx="12527228" cy="824265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sz="6769" noProof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sz="6769" noProof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4762" b="1" noProof="1">
                  <a:solidFill>
                    <a:srgbClr val="000000"/>
                  </a:solidFill>
                  <a:latin typeface="Open Sans ExtraBold"/>
                  <a:ea typeface="Open Sans ExtraBold"/>
                  <a:cs typeface="Open Sans ExtraBold"/>
                  <a:sym typeface="Open Sans"/>
                </a:rPr>
                <a:t>REFERÊNCIAS</a:t>
              </a:r>
              <a:endParaRPr lang="pt-BR" noProof="1"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77" b="1" noProof="1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INTRODUÇÃO</a:t>
            </a:r>
            <a:endParaRPr lang="pt-BR" noProof="1"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sz="6769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6769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434" b="1" noProof="1">
                <a:latin typeface="Open Sans ExtraBold"/>
                <a:ea typeface="Open Sans ExtraBold"/>
                <a:cs typeface="Open Sans ExtraBold"/>
                <a:sym typeface="Open Sans"/>
              </a:rPr>
              <a:t>URBAN CHASE</a:t>
            </a:r>
            <a:endParaRPr lang="pt-BR" noProof="1"/>
          </a:p>
        </p:txBody>
      </p:sp>
      <p:sp>
        <p:nvSpPr>
          <p:cNvPr id="127" name="Google Shape;127;p1"/>
          <p:cNvSpPr txBox="1"/>
          <p:nvPr/>
        </p:nvSpPr>
        <p:spPr>
          <a:xfrm>
            <a:off x="-234723" y="6355587"/>
            <a:ext cx="29324843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1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André Makoto, Caio Fabio, Davi Varella, Davi Moraes</a:t>
            </a:r>
            <a:endParaRPr lang="pt-BR" noProof="1"/>
          </a:p>
          <a:p>
            <a:pPr lvl="0" algn="ctr">
              <a:lnSpc>
                <a:spcPct val="140025"/>
              </a:lnSpc>
            </a:pPr>
            <a:r>
              <a:rPr lang="pt-BR" sz="4762" noProof="1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  <a:sym typeface="Open Sans"/>
              </a:rPr>
              <a:t>Orientadores: Adriano Felix, David de Oliveira, Eduardo Savino, Luis Pires, </a:t>
            </a:r>
            <a:r>
              <a:rPr lang="pt-BR" sz="4762" noProof="1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  <a:sym typeface="Open Sans"/>
              </a:rPr>
              <a:t>Renata Muniz, Victor Rosetti </a:t>
            </a:r>
            <a:endParaRPr lang="pt-BR" noProof="1">
              <a:solidFill>
                <a:schemeClr val="tx1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5099844" y="15177356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noProof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Cena Planejamento: Urban Chase</a:t>
            </a:r>
            <a:endParaRPr lang="pt-BR" noProof="1"/>
          </a:p>
        </p:txBody>
      </p:sp>
      <p:sp>
        <p:nvSpPr>
          <p:cNvPr id="129" name="Google Shape;129;p1"/>
          <p:cNvSpPr txBox="1"/>
          <p:nvPr/>
        </p:nvSpPr>
        <p:spPr>
          <a:xfrm>
            <a:off x="15353290" y="23008444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noProof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Urban Chase (2026)</a:t>
            </a:r>
            <a:endParaRPr lang="pt-BR" noProof="1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1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TECNOLOGIAS UTILIZADAS</a:t>
            </a:r>
            <a:endParaRPr lang="pt-BR" noProof="1"/>
          </a:p>
        </p:txBody>
      </p:sp>
      <p:sp>
        <p:nvSpPr>
          <p:cNvPr id="131" name="Google Shape;131;p1"/>
          <p:cNvSpPr txBox="1"/>
          <p:nvPr/>
        </p:nvSpPr>
        <p:spPr>
          <a:xfrm>
            <a:off x="1644765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1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RESULTADOS</a:t>
            </a:r>
            <a:endParaRPr lang="pt-BR" noProof="1"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1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O PROBLEMA</a:t>
            </a:r>
            <a:endParaRPr lang="pt-BR" noProof="1"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noProof="1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A PROPOSTA</a:t>
            </a:r>
            <a:endParaRPr lang="pt-BR" noProof="1"/>
          </a:p>
        </p:txBody>
      </p:sp>
      <p:sp>
        <p:nvSpPr>
          <p:cNvPr id="134" name="Google Shape;134;p1"/>
          <p:cNvSpPr txBox="1"/>
          <p:nvPr/>
        </p:nvSpPr>
        <p:spPr>
          <a:xfrm>
            <a:off x="15714840" y="31592544"/>
            <a:ext cx="11827476" cy="633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FÓRUM BRASILEIRO DE SEGURANÇA PÚBLICA. Anuário Brasileiro de Segurança Pública 2025. São Paulo, 2025.</a:t>
            </a:r>
          </a:p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LOPES, Leandro de Souza. Percepção de segurança no Paraná: análise de fatores associados a partir de um inquérito online gamificado. Revista do Instituto Brasileiro de Segurança Pública, 2025.</a:t>
            </a:r>
          </a:p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PRENSKY, Marc. Aprendizagem baseada em jogos digitais. São Paulo: Senac, 2012.</a:t>
            </a:r>
          </a:p>
        </p:txBody>
      </p:sp>
      <p:sp>
        <p:nvSpPr>
          <p:cNvPr id="135" name="Google Shape;135;p1"/>
          <p:cNvSpPr txBox="1"/>
          <p:nvPr/>
        </p:nvSpPr>
        <p:spPr>
          <a:xfrm>
            <a:off x="1553309" y="31656460"/>
            <a:ext cx="12747315" cy="633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42950" indent="-742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Unity: Desenvolvimento do ambiente 3D, física e mecânicas do jogo</a:t>
            </a: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.</a:t>
            </a:r>
          </a:p>
          <a:p>
            <a:pPr marL="742950" indent="-742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C#: Lógica de programação.</a:t>
            </a:r>
          </a:p>
          <a:p>
            <a:pPr marL="742950" indent="-742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430" dirty="0" err="1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Git</a:t>
            </a: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 e GitHub: Controle de versão e compartilhamento do código.</a:t>
            </a:r>
          </a:p>
          <a:p>
            <a:pPr marL="742950" indent="-742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430" dirty="0" err="1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Kanban</a:t>
            </a: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: Organização das tarefas do projeto.</a:t>
            </a:r>
          </a:p>
          <a:p>
            <a:pPr marL="742950" indent="-742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430" dirty="0" err="1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Notion</a:t>
            </a: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: P</a:t>
            </a: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lanejamento da equipe</a:t>
            </a: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.</a:t>
            </a:r>
          </a:p>
          <a:p>
            <a:pPr marL="742950" indent="-7429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Claude IA: Apoio técnico</a:t>
            </a:r>
            <a:endParaRPr lang="pt-BR" sz="3430" dirty="0">
              <a:solidFill>
                <a:schemeClr val="tx1"/>
              </a:solidFill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475104" y="10797897"/>
            <a:ext cx="12804342" cy="870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A depredação do patrimônio público gera prejuízos diretos à coletividade, comprometendo recursos e serviços essenciais à população. Atos de vandalismo urbano impactam diretamente a qualidade de vida, aumentam gastos públicos e contribuem para a sensação de insegurança social (FÓRUM BRASILEIRO DE SEGURANÇA PÚBLICA, 2025).</a:t>
            </a:r>
          </a:p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A percepção de segurança da população está diretamente ligada à preservação dos espaços urbanos e à confiança nas instituições públicas (LOPES, 2025). Nesse contexto, agentes de segurança enfrentam o desafio de conter ocorrências sem ampliar os danos ao patrimônio e às pessoas ao redor. </a:t>
            </a:r>
          </a:p>
        </p:txBody>
      </p:sp>
      <p:sp>
        <p:nvSpPr>
          <p:cNvPr id="137" name="Google Shape;137;p1"/>
          <p:cNvSpPr txBox="1"/>
          <p:nvPr/>
        </p:nvSpPr>
        <p:spPr>
          <a:xfrm>
            <a:off x="1367135" y="21172965"/>
            <a:ext cx="12968622" cy="870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Diante do crescimento dos casos de vandalismo urbano e dos prejuízos causados ao patrimônio público, a equipe desenvolveu o “</a:t>
            </a:r>
            <a:r>
              <a:rPr lang="pt-BR" sz="3430" i="1" dirty="0" err="1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Urban</a:t>
            </a:r>
            <a:r>
              <a:rPr lang="pt-BR" sz="3430" i="1" dirty="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Chase”</a:t>
            </a:r>
            <a:r>
              <a:rPr lang="pt-BR" sz="3430" b="1" dirty="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com o objetivo de promover conscientização social por meio da gamificação. O projeto foi motivado pela necessidade de representar, de forma interativa, os desafios enfrentados por agentes de segurança ao tentar conter criminosos sem causar danos à cidade e à população.</a:t>
            </a:r>
          </a:p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A proposta utiliza conceitos de gamificação aplicados à educação e à conscientização social, prática considerada eficiente para aumentar o engajamento e o aprendizado em ambientes digitais (PRENSKY, 2012).</a:t>
            </a: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955" b="1" noProof="1">
                <a:latin typeface="Open Sans ExtraBold"/>
                <a:ea typeface="Open Sans ExtraBold"/>
                <a:cs typeface="Open Sans ExtraBold"/>
                <a:sym typeface="Open Sans"/>
              </a:rPr>
              <a:t>IV </a:t>
            </a:r>
            <a:r>
              <a:rPr lang="pt-BR" sz="4955" b="1" noProof="1">
                <a:solidFill>
                  <a:srgbClr val="000000"/>
                </a:solidFill>
                <a:latin typeface="Open Sans ExtraBold"/>
                <a:ea typeface="Open Sans ExtraBold"/>
                <a:cs typeface="Open Sans ExtraBold"/>
                <a:sym typeface="Open Sans"/>
              </a:rPr>
              <a:t>SEMANA FECAP DE TECNOLOGIA - 2026</a:t>
            </a:r>
            <a:endParaRPr lang="pt-BR" noProof="1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955" noProof="1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"/>
              </a:rPr>
              <a:t>Fundação Escola de Comércio Álvares Penteado - FECAP</a:t>
            </a:r>
            <a:endParaRPr lang="pt-BR" noProof="1"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395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O </a:t>
            </a:r>
            <a:r>
              <a:rPr lang="pt-BR" sz="3430" i="1" dirty="0" err="1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Urban</a:t>
            </a:r>
            <a:r>
              <a:rPr lang="pt-BR" sz="3430" i="1" dirty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 </a:t>
            </a:r>
            <a:r>
              <a:rPr lang="pt-BR" sz="3430" i="1" dirty="0">
                <a:solidFill>
                  <a:schemeClr val="tx1"/>
                </a:solidFill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Chase</a:t>
            </a:r>
            <a:r>
              <a:rPr lang="pt-BR" sz="3430" dirty="0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 </a:t>
            </a: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foi desenvolvido com sucesso, implementando mecânicas de perseguição urbana em ambiente 3D, inteligência artificial para movimentação do fugitivo e sistemas estratégicos de obstáculos posicionados pelo jogador.</a:t>
            </a:r>
          </a:p>
        </p:txBody>
      </p:sp>
      <p:sp>
        <p:nvSpPr>
          <p:cNvPr id="140" name="Google Shape;140;p1"/>
          <p:cNvSpPr txBox="1"/>
          <p:nvPr/>
        </p:nvSpPr>
        <p:spPr>
          <a:xfrm>
            <a:off x="15714839" y="23891010"/>
            <a:ext cx="11807134" cy="5542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O jogador controla o policial com movimentação WASD e utiliza mecânicas </a:t>
            </a:r>
            <a:r>
              <a:rPr lang="pt-BR" sz="3430" i="1" dirty="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point-</a:t>
            </a:r>
            <a:r>
              <a:rPr lang="pt-BR" sz="3430" i="1" dirty="0" err="1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and</a:t>
            </a:r>
            <a:r>
              <a:rPr lang="pt-BR" sz="3430" i="1" dirty="0">
                <a:latin typeface="Open Sans ExtraBold" pitchFamily="2" charset="0"/>
                <a:ea typeface="Open Sans ExtraBold" pitchFamily="2" charset="0"/>
                <a:cs typeface="Open Sans ExtraBold" pitchFamily="2" charset="0"/>
              </a:rPr>
              <a:t>-click</a:t>
            </a: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 para posicionar obstáculos no cenário. O fugitivo reage dinamicamente aos obstáculos, alterando sua rota em tempo real.</a:t>
            </a:r>
          </a:p>
          <a:p>
            <a:pPr>
              <a:lnSpc>
                <a:spcPct val="150000"/>
              </a:lnSpc>
            </a:pP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O jogo reforça a conscientização sobre os impactos da depredação urbana e permitiu a aplicação prática de programação, lógica computacional e trabalho em equipe</a:t>
            </a:r>
            <a:r>
              <a:rPr lang="pt-BR" sz="3430" dirty="0"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2E31A99-48BE-9F4D-DD03-ADD4A74C06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9422" y="16123380"/>
            <a:ext cx="11302847" cy="64906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478</Words>
  <Application>Microsoft Macintosh PowerPoint</Application>
  <PresentationFormat>Personalizar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Open Sans</vt:lpstr>
      <vt:lpstr>Arial</vt:lpstr>
      <vt:lpstr>Calibri</vt:lpstr>
      <vt:lpstr>Open Sans ExtraBold</vt:lpstr>
      <vt:lpstr>Inter</vt:lpstr>
      <vt:lpstr>Open Sans Light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 George Varella da Silva - 26028412</cp:lastModifiedBy>
  <cp:revision>4</cp:revision>
  <dcterms:created xsi:type="dcterms:W3CDTF">2006-08-16T00:00:00Z</dcterms:created>
  <dcterms:modified xsi:type="dcterms:W3CDTF">2026-05-08T13:40:07Z</dcterms:modified>
</cp:coreProperties>
</file>